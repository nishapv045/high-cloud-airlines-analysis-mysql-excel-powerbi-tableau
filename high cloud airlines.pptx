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5"/>
  </p:notesMasterIdLst>
  <p:sldIdLst>
    <p:sldId id="262" r:id="rId3"/>
    <p:sldId id="280" r:id="rId4"/>
    <p:sldId id="267" r:id="rId5"/>
    <p:sldId id="259" r:id="rId6"/>
    <p:sldId id="268" r:id="rId7"/>
    <p:sldId id="269" r:id="rId8"/>
    <p:sldId id="258" r:id="rId9"/>
    <p:sldId id="270" r:id="rId10"/>
    <p:sldId id="271" r:id="rId11"/>
    <p:sldId id="281" r:id="rId12"/>
    <p:sldId id="274" r:id="rId13"/>
    <p:sldId id="272" r:id="rId14"/>
    <p:sldId id="273" r:id="rId15"/>
    <p:sldId id="277" r:id="rId16"/>
    <p:sldId id="275" r:id="rId17"/>
    <p:sldId id="285" r:id="rId18"/>
    <p:sldId id="282" r:id="rId19"/>
    <p:sldId id="286" r:id="rId20"/>
    <p:sldId id="284" r:id="rId21"/>
    <p:sldId id="278" r:id="rId22"/>
    <p:sldId id="276" r:id="rId23"/>
    <p:sldId id="279"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DA7D"/>
    <a:srgbClr val="1D3A00"/>
    <a:srgbClr val="FF856D"/>
    <a:srgbClr val="FF2549"/>
    <a:srgbClr val="003635"/>
    <a:srgbClr val="005856"/>
    <a:srgbClr val="9EFF29"/>
    <a:srgbClr val="007033"/>
    <a:srgbClr val="5EEC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66"/>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rivani.sv\Desktop\KPI_6&amp;7.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[KPI_6&amp;7.xlsx]KPI 6!PivotTable1</c:name>
    <c:fmtId val="-1"/>
  </c:pivotSource>
  <c:chart>
    <c:title>
      <c:tx>
        <c:rich>
          <a:bodyPr rot="0" spcFirstLastPara="1" vertOverflow="ellipsis" vert="horz" wrap="square" anchor="ctr" anchorCtr="1"/>
          <a:lstStyle/>
          <a:p>
            <a:pPr algn="ctr" rtl="0">
              <a:defRPr sz="1400" b="0" i="0" u="none" strike="noStrike" kern="1200" spc="0" baseline="0">
                <a:solidFill>
                  <a:srgbClr val="000000"/>
                </a:solidFill>
                <a:latin typeface="+mn-lt"/>
                <a:ea typeface="+mn-ea"/>
                <a:cs typeface="+mn-cs"/>
              </a:defRPr>
            </a:pPr>
            <a:r>
              <a:rPr lang="en-US" dirty="0"/>
              <a:t>Load Factor %</a:t>
            </a:r>
          </a:p>
        </c:rich>
      </c:tx>
      <c:layout>
        <c:manualLayout>
          <c:xMode val="edge"/>
          <c:yMode val="edge"/>
          <c:x val="0.16327895072106921"/>
          <c:y val="4.4121491501530753E-2"/>
        </c:manualLayout>
      </c:layout>
      <c:overlay val="0"/>
      <c:spPr>
        <a:noFill/>
        <a:ln>
          <a:noFill/>
        </a:ln>
        <a:effectLst/>
      </c:spPr>
      <c:txPr>
        <a:bodyPr rot="0" spcFirstLastPara="1" vertOverflow="ellipsis" vert="horz" wrap="square" anchor="ctr" anchorCtr="1"/>
        <a:lstStyle/>
        <a:p>
          <a:pPr algn="ctr" rtl="0">
            <a:defRPr sz="1400" b="0" i="0" u="none" strike="noStrike" kern="1200" spc="0" baseline="0">
              <a:solidFill>
                <a:srgbClr val="000000"/>
              </a:solidFill>
              <a:latin typeface="+mn-lt"/>
              <a:ea typeface="+mn-ea"/>
              <a:cs typeface="+mn-cs"/>
            </a:defRPr>
          </a:pPr>
          <a:endParaRPr lang="en-US"/>
        </a:p>
      </c:txPr>
    </c:title>
    <c:autoTitleDeleted val="0"/>
    <c:pivotFmts>
      <c:pivotFmt>
        <c:idx val="0"/>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w="19050">
            <a:solidFill>
              <a:schemeClr val="lt1"/>
            </a:solidFill>
          </a:ln>
          <a:effectLst/>
        </c:spPr>
        <c:dLbl>
          <c:idx val="0"/>
          <c:layout>
            <c:manualLayout>
              <c:x val="-0.12791474876657202"/>
              <c:y val="-0.18297103488104016"/>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987D357-EB5B-437E-82CA-39887CD799B3}"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
        <c:spPr>
          <a:solidFill>
            <a:schemeClr val="accent6"/>
          </a:solidFill>
          <a:ln w="19050">
            <a:solidFill>
              <a:schemeClr val="lt1"/>
            </a:solidFill>
          </a:ln>
          <a:effectLst/>
        </c:spPr>
        <c:dLbl>
          <c:idx val="0"/>
          <c:layout>
            <c:manualLayout>
              <c:x val="0.12305128334696153"/>
              <c:y val="0.1380504856566726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B8D0BDD-60B3-4E80-8F63-533D990F3482}"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dLbl>
          <c:idx val="0"/>
          <c:layout>
            <c:manualLayout>
              <c:x val="-0.12791474876657202"/>
              <c:y val="-0.18297103488104016"/>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987D357-EB5B-437E-82CA-39887CD799B3}"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5"/>
        <c:spPr>
          <a:solidFill>
            <a:schemeClr val="accent6"/>
          </a:solidFill>
          <a:ln w="19050">
            <a:solidFill>
              <a:schemeClr val="lt1"/>
            </a:solidFill>
          </a:ln>
          <a:effectLst/>
        </c:spPr>
        <c:dLbl>
          <c:idx val="0"/>
          <c:layout>
            <c:manualLayout>
              <c:x val="0.12305128334696153"/>
              <c:y val="0.1380504856566726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B8D0BDD-60B3-4E80-8F63-533D990F3482}"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6"/>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solidFill>
          <a:ln w="19050">
            <a:solidFill>
              <a:schemeClr val="lt1"/>
            </a:solidFill>
          </a:ln>
          <a:effectLst/>
        </c:spPr>
        <c:dLbl>
          <c:idx val="0"/>
          <c:layout>
            <c:manualLayout>
              <c:x val="-0.12791474876657202"/>
              <c:y val="-0.18297103488104016"/>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987D357-EB5B-437E-82CA-39887CD799B3}"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8"/>
        <c:spPr>
          <a:solidFill>
            <a:schemeClr val="accent6"/>
          </a:solidFill>
          <a:ln w="19050">
            <a:solidFill>
              <a:schemeClr val="lt1"/>
            </a:solidFill>
          </a:ln>
          <a:effectLst/>
        </c:spPr>
        <c:dLbl>
          <c:idx val="0"/>
          <c:layout>
            <c:manualLayout>
              <c:x val="0.12305128334696153"/>
              <c:y val="0.13805048565667263"/>
            </c:manualLayout>
          </c:layout>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6B8D0BDD-60B3-4E80-8F63-533D990F3482}" type="VALUE">
                  <a:rPr lang="en-US" sz="1200" b="1">
                    <a:solidFill>
                      <a:srgbClr val="FF0000"/>
                    </a:solidFill>
                  </a:rPr>
                  <a:pPr>
                    <a:defRPr sz="900" b="0" i="0" u="none" strike="noStrike" kern="1200" baseline="0">
                      <a:solidFill>
                        <a:schemeClr val="tx1">
                          <a:lumMod val="75000"/>
                          <a:lumOff val="25000"/>
                        </a:schemeClr>
                      </a:solidFill>
                      <a:latin typeface="+mn-lt"/>
                      <a:ea typeface="+mn-ea"/>
                      <a:cs typeface="+mn-cs"/>
                    </a:defRPr>
                  </a:pPr>
                  <a:t>[VALUE]</a:t>
                </a:fld>
                <a:endParaRPr lang="en-US"/>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s>
    <c:plotArea>
      <c:layout/>
      <c:pieChart>
        <c:varyColors val="1"/>
        <c:ser>
          <c:idx val="0"/>
          <c:order val="0"/>
          <c:tx>
            <c:strRef>
              <c:f>'KPI 6'!$B$5</c:f>
              <c:strCache>
                <c:ptCount val="1"/>
                <c:pt idx="0">
                  <c:v>Total</c:v>
                </c:pt>
              </c:strCache>
            </c:strRef>
          </c:tx>
          <c:dPt>
            <c:idx val="0"/>
            <c:bubble3D val="0"/>
            <c:spPr>
              <a:solidFill>
                <a:schemeClr val="accent6"/>
              </a:solidFill>
              <a:ln w="19050">
                <a:solidFill>
                  <a:schemeClr val="lt1"/>
                </a:solidFill>
              </a:ln>
              <a:effectLst/>
            </c:spPr>
            <c:extLst>
              <c:ext xmlns:c16="http://schemas.microsoft.com/office/drawing/2014/chart" uri="{C3380CC4-5D6E-409C-BE32-E72D297353CC}">
                <c16:uniqueId val="{00000001-EDEC-4475-AF86-7D3F3B975DE4}"/>
              </c:ext>
            </c:extLst>
          </c:dPt>
          <c:dPt>
            <c:idx val="1"/>
            <c:bubble3D val="0"/>
            <c:spPr>
              <a:solidFill>
                <a:schemeClr val="accent5"/>
              </a:solidFill>
              <a:ln w="19050">
                <a:solidFill>
                  <a:schemeClr val="lt1"/>
                </a:solidFill>
              </a:ln>
              <a:effectLst/>
            </c:spPr>
            <c:extLst>
              <c:ext xmlns:c16="http://schemas.microsoft.com/office/drawing/2014/chart" uri="{C3380CC4-5D6E-409C-BE32-E72D297353CC}">
                <c16:uniqueId val="{00000003-EDEC-4475-AF86-7D3F3B975DE4}"/>
              </c:ext>
            </c:extLst>
          </c:dPt>
          <c:dLbls>
            <c:dLbl>
              <c:idx val="0"/>
              <c:layout>
                <c:manualLayout>
                  <c:x val="-0.12791474876657202"/>
                  <c:y val="-0.18297103488104016"/>
                </c:manualLayout>
              </c:layout>
              <c:tx>
                <c:rich>
                  <a:bodyPr/>
                  <a:lstStyle/>
                  <a:p>
                    <a:fld id="{6987D357-EB5B-437E-82CA-39887CD799B3}" type="VALUE">
                      <a:rPr lang="en-US" sz="1200" b="1">
                        <a:solidFill>
                          <a:schemeClr val="bg2"/>
                        </a:solidFill>
                      </a:rPr>
                      <a:pPr/>
                      <a:t>[VALUE]</a:t>
                    </a:fld>
                    <a:endParaRPr 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DEC-4475-AF86-7D3F3B975DE4}"/>
                </c:ext>
              </c:extLst>
            </c:dLbl>
            <c:dLbl>
              <c:idx val="1"/>
              <c:layout>
                <c:manualLayout>
                  <c:x val="0.12305128334696153"/>
                  <c:y val="0.13805048565667263"/>
                </c:manualLayout>
              </c:layout>
              <c:tx>
                <c:rich>
                  <a:bodyPr/>
                  <a:lstStyle/>
                  <a:p>
                    <a:fld id="{6B8D0BDD-60B3-4E80-8F63-533D990F3482}" type="VALUE">
                      <a:rPr lang="en-US" sz="1200" b="1">
                        <a:solidFill>
                          <a:schemeClr val="bg2"/>
                        </a:solidFill>
                      </a:rPr>
                      <a:pPr/>
                      <a:t>[VALUE]</a:t>
                    </a:fld>
                    <a:endParaRPr lang="en-US"/>
                  </a:p>
                </c:rich>
              </c:tx>
              <c:dLblPos val="bestFi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DEC-4475-AF86-7D3F3B975DE4}"/>
                </c:ext>
              </c:extLst>
            </c:dLbl>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'KPI 6'!$A$6:$A$8</c:f>
              <c:strCache>
                <c:ptCount val="2"/>
                <c:pt idx="0">
                  <c:v>WEEKDAY</c:v>
                </c:pt>
                <c:pt idx="1">
                  <c:v>WEEKEND</c:v>
                </c:pt>
              </c:strCache>
            </c:strRef>
          </c:cat>
          <c:val>
            <c:numRef>
              <c:f>'KPI 6'!$B$6:$B$8</c:f>
              <c:numCache>
                <c:formatCode>0.00%</c:formatCode>
                <c:ptCount val="2"/>
                <c:pt idx="0">
                  <c:v>0.7117523742688302</c:v>
                </c:pt>
                <c:pt idx="1">
                  <c:v>0.28824762573116985</c:v>
                </c:pt>
              </c:numCache>
            </c:numRef>
          </c:val>
          <c:extLst>
            <c:ext xmlns:c16="http://schemas.microsoft.com/office/drawing/2014/chart" uri="{C3380CC4-5D6E-409C-BE32-E72D297353CC}">
              <c16:uniqueId val="{00000004-EDEC-4475-AF86-7D3F3B975DE4}"/>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8488663638195468"/>
          <c:y val="0.45361837288205509"/>
          <c:w val="0.26942371305582791"/>
          <c:h val="0.21145589349534147"/>
        </c:manualLayout>
      </c:layout>
      <c:overlay val="0"/>
      <c:spPr>
        <a:noFill/>
        <a:ln>
          <a:noFill/>
        </a:ln>
        <a:effectLst/>
      </c:spPr>
      <c:txPr>
        <a:bodyPr rot="0" spcFirstLastPara="1" vertOverflow="ellipsis" vert="horz" wrap="square" anchor="ctr" anchorCtr="1"/>
        <a:lstStyle/>
        <a:p>
          <a:pPr>
            <a:defRPr sz="900" b="0" i="0" u="none" strike="noStrike" kern="1200" baseline="0">
              <a:solidFill>
                <a:srgbClr val="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9050" cap="flat" cmpd="sng" algn="ctr">
      <a:solidFill>
        <a:srgbClr val="000000"/>
      </a:solidFill>
      <a:round/>
    </a:ln>
    <a:effectLst/>
  </c:spPr>
  <c:txPr>
    <a:bodyPr/>
    <a:lstStyle/>
    <a:p>
      <a:pPr>
        <a:defRPr>
          <a:solidFill>
            <a:srgbClr val="000000"/>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11CB43-95E8-480A-8625-53AD39960277}"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AA180B37-6437-4BFB-A9D7-08C2003DCD28}">
      <dgm:prSet phldrT="[Text]"/>
      <dgm:spPr>
        <a:solidFill>
          <a:schemeClr val="accent6"/>
        </a:solidFill>
        <a:ln>
          <a:solidFill>
            <a:schemeClr val="accent1"/>
          </a:solidFill>
        </a:ln>
      </dgm:spPr>
      <dgm:t>
        <a:bodyPr/>
        <a:lstStyle/>
        <a:p>
          <a:r>
            <a:rPr lang="en-US" dirty="0">
              <a:solidFill>
                <a:schemeClr val="bg1">
                  <a:lumMod val="95000"/>
                </a:schemeClr>
              </a:solidFill>
            </a:rPr>
            <a:t>Air Lines</a:t>
          </a:r>
        </a:p>
      </dgm:t>
    </dgm:pt>
    <dgm:pt modelId="{C5F81401-E9D8-461E-BD2A-D8BF213CCD0B}" type="parTrans" cxnId="{9EBED096-FDDC-48C3-8599-E1E80B3A6AD1}">
      <dgm:prSet/>
      <dgm:spPr/>
      <dgm:t>
        <a:bodyPr/>
        <a:lstStyle/>
        <a:p>
          <a:endParaRPr lang="en-US"/>
        </a:p>
      </dgm:t>
    </dgm:pt>
    <dgm:pt modelId="{8CE08832-8A4C-4927-B86E-8C755366B889}" type="sibTrans" cxnId="{9EBED096-FDDC-48C3-8599-E1E80B3A6AD1}">
      <dgm:prSet/>
      <dgm:spPr/>
      <dgm:t>
        <a:bodyPr/>
        <a:lstStyle/>
        <a:p>
          <a:endParaRPr lang="en-US"/>
        </a:p>
      </dgm:t>
    </dgm:pt>
    <dgm:pt modelId="{4F11E762-4EBB-4F97-B6F6-02815B0BF533}">
      <dgm:prSet phldrT="[Text]" custT="1"/>
      <dgm:spPr>
        <a:ln>
          <a:solidFill>
            <a:schemeClr val="accent2">
              <a:alpha val="90000"/>
            </a:schemeClr>
          </a:solidFill>
        </a:ln>
      </dgm:spPr>
      <dgm:t>
        <a:bodyPr/>
        <a:lstStyle/>
        <a:p>
          <a:pPr algn="ctr">
            <a:buNone/>
          </a:pPr>
          <a:r>
            <a:rPr lang="en-US" sz="800" dirty="0">
              <a:latin typeface="Times New Roman" panose="02020603050405020304" pitchFamily="18" charset="0"/>
              <a:cs typeface="Times New Roman" panose="02020603050405020304" pitchFamily="18" charset="0"/>
            </a:rPr>
            <a:t>Weekends</a:t>
          </a:r>
        </a:p>
      </dgm:t>
    </dgm:pt>
    <dgm:pt modelId="{47FDDD95-F4A9-4FCE-AB6A-52DAC9CC8602}" type="parTrans" cxnId="{D39ACF95-0E59-417E-B5D3-2E2C1187CC10}">
      <dgm:prSet/>
      <dgm:spPr/>
      <dgm:t>
        <a:bodyPr/>
        <a:lstStyle/>
        <a:p>
          <a:endParaRPr lang="en-US"/>
        </a:p>
      </dgm:t>
    </dgm:pt>
    <dgm:pt modelId="{A41109F0-E5AD-47FF-A7CC-4BE956E44931}" type="sibTrans" cxnId="{D39ACF95-0E59-417E-B5D3-2E2C1187CC10}">
      <dgm:prSet/>
      <dgm:spPr/>
      <dgm:t>
        <a:bodyPr/>
        <a:lstStyle/>
        <a:p>
          <a:endParaRPr lang="en-US"/>
        </a:p>
      </dgm:t>
    </dgm:pt>
    <dgm:pt modelId="{4D3BDDFC-0CFA-40FB-A0E2-1679D2958242}">
      <dgm:prSet phldrT="[Text]" custT="1"/>
      <dgm:spPr>
        <a:ln>
          <a:solidFill>
            <a:schemeClr val="accent2">
              <a:alpha val="90000"/>
            </a:schemeClr>
          </a:solidFill>
        </a:ln>
      </dgm:spPr>
      <dgm:t>
        <a:bodyPr/>
        <a:lstStyle/>
        <a:p>
          <a:pPr algn="ctr">
            <a:buNone/>
          </a:pPr>
          <a:r>
            <a:rPr lang="en-US" sz="800" dirty="0">
              <a:latin typeface="Times New Roman" panose="02020603050405020304" pitchFamily="18" charset="0"/>
              <a:cs typeface="Times New Roman" panose="02020603050405020304" pitchFamily="18" charset="0"/>
            </a:rPr>
            <a:t>Load Factor %</a:t>
          </a:r>
        </a:p>
      </dgm:t>
    </dgm:pt>
    <dgm:pt modelId="{E9EE241D-D9FB-45AA-BB25-8AC3AFCBD43A}" type="parTrans" cxnId="{EF074C44-5DCC-4DA9-9073-46E5F294608C}">
      <dgm:prSet/>
      <dgm:spPr/>
      <dgm:t>
        <a:bodyPr/>
        <a:lstStyle/>
        <a:p>
          <a:endParaRPr lang="en-US"/>
        </a:p>
      </dgm:t>
    </dgm:pt>
    <dgm:pt modelId="{BDC3AA71-C359-4DB5-B3F7-4B1DE44AA4A4}" type="sibTrans" cxnId="{EF074C44-5DCC-4DA9-9073-46E5F294608C}">
      <dgm:prSet/>
      <dgm:spPr/>
      <dgm:t>
        <a:bodyPr/>
        <a:lstStyle/>
        <a:p>
          <a:endParaRPr lang="en-US"/>
        </a:p>
      </dgm:t>
    </dgm:pt>
    <dgm:pt modelId="{7AF7DC87-E8C0-4729-AF06-198DCCBDC6B2}">
      <dgm:prSet phldrT="[Text]"/>
      <dgm:spPr>
        <a:ln>
          <a:solidFill>
            <a:schemeClr val="accent2"/>
          </a:solidFill>
        </a:ln>
      </dgm:spPr>
      <dgm:t>
        <a:bodyPr/>
        <a:lstStyle/>
        <a:p>
          <a:r>
            <a:rPr lang="en-US" dirty="0"/>
            <a:t>Air Lines</a:t>
          </a:r>
        </a:p>
      </dgm:t>
    </dgm:pt>
    <dgm:pt modelId="{847B11CE-F832-4591-9ED8-E756FDA71901}" type="parTrans" cxnId="{07114DD0-0037-4A65-B67F-3AC6B8013D06}">
      <dgm:prSet/>
      <dgm:spPr/>
      <dgm:t>
        <a:bodyPr/>
        <a:lstStyle/>
        <a:p>
          <a:endParaRPr lang="en-US"/>
        </a:p>
      </dgm:t>
    </dgm:pt>
    <dgm:pt modelId="{325A8846-7D0E-41A2-9ED9-1C1CC8196279}" type="sibTrans" cxnId="{07114DD0-0037-4A65-B67F-3AC6B8013D06}">
      <dgm:prSet/>
      <dgm:spPr/>
      <dgm:t>
        <a:bodyPr/>
        <a:lstStyle/>
        <a:p>
          <a:endParaRPr lang="en-US"/>
        </a:p>
      </dgm:t>
    </dgm:pt>
    <dgm:pt modelId="{9C84E669-31ED-456B-BCF7-30ED6EB02ADA}">
      <dgm:prSet phldrT="[Text]" custT="1"/>
      <dgm:spPr>
        <a:ln>
          <a:solidFill>
            <a:schemeClr val="accent1">
              <a:alpha val="90000"/>
            </a:schemeClr>
          </a:solidFill>
        </a:ln>
      </dgm:spPr>
      <dgm:t>
        <a:bodyPr/>
        <a:lstStyle/>
        <a:p>
          <a:pPr algn="ctr">
            <a:buNone/>
          </a:pPr>
          <a:r>
            <a:rPr lang="en-US" sz="800" dirty="0">
              <a:latin typeface="Times New Roman" panose="02020603050405020304" pitchFamily="18" charset="0"/>
              <a:cs typeface="Times New Roman" panose="02020603050405020304" pitchFamily="18" charset="0"/>
            </a:rPr>
            <a:t>Weekdays</a:t>
          </a:r>
        </a:p>
      </dgm:t>
    </dgm:pt>
    <dgm:pt modelId="{29FE38C1-D785-45F5-9806-06216E6AB361}" type="parTrans" cxnId="{1388BF62-B9AE-48E4-970A-E45B6567DFB4}">
      <dgm:prSet/>
      <dgm:spPr/>
      <dgm:t>
        <a:bodyPr/>
        <a:lstStyle/>
        <a:p>
          <a:endParaRPr lang="en-US"/>
        </a:p>
      </dgm:t>
    </dgm:pt>
    <dgm:pt modelId="{765BDC01-41D1-447C-8E4F-5663D8B1BE94}" type="sibTrans" cxnId="{1388BF62-B9AE-48E4-970A-E45B6567DFB4}">
      <dgm:prSet/>
      <dgm:spPr/>
      <dgm:t>
        <a:bodyPr/>
        <a:lstStyle/>
        <a:p>
          <a:endParaRPr lang="en-US"/>
        </a:p>
      </dgm:t>
    </dgm:pt>
    <dgm:pt modelId="{DAF5E2CC-92CA-4296-BD99-644C4A30EFCD}">
      <dgm:prSet phldrT="[Text]" custT="1"/>
      <dgm:spPr>
        <a:ln>
          <a:solidFill>
            <a:schemeClr val="accent1">
              <a:alpha val="90000"/>
            </a:schemeClr>
          </a:solidFill>
        </a:ln>
      </dgm:spPr>
      <dgm:t>
        <a:bodyPr/>
        <a:lstStyle/>
        <a:p>
          <a:pPr algn="ctr">
            <a:buNone/>
          </a:pPr>
          <a:r>
            <a:rPr lang="en-US" sz="800" dirty="0">
              <a:latin typeface="Times New Roman" panose="02020603050405020304" pitchFamily="18" charset="0"/>
              <a:cs typeface="Times New Roman" panose="02020603050405020304" pitchFamily="18" charset="0"/>
            </a:rPr>
            <a:t>Load Factors %</a:t>
          </a:r>
        </a:p>
      </dgm:t>
    </dgm:pt>
    <dgm:pt modelId="{5E9DA7AD-B935-4F90-A18C-3370AA8C2DA1}" type="parTrans" cxnId="{9EAB7BEF-FE87-446E-9784-4579E461D8CE}">
      <dgm:prSet/>
      <dgm:spPr/>
      <dgm:t>
        <a:bodyPr/>
        <a:lstStyle/>
        <a:p>
          <a:endParaRPr lang="en-US"/>
        </a:p>
      </dgm:t>
    </dgm:pt>
    <dgm:pt modelId="{324E1C81-04A8-4DDD-A273-84060AB416FF}" type="sibTrans" cxnId="{9EAB7BEF-FE87-446E-9784-4579E461D8CE}">
      <dgm:prSet/>
      <dgm:spPr/>
      <dgm:t>
        <a:bodyPr/>
        <a:lstStyle/>
        <a:p>
          <a:endParaRPr lang="en-US"/>
        </a:p>
      </dgm:t>
    </dgm:pt>
    <dgm:pt modelId="{74C80910-3804-4100-A34A-B3C7EDF41665}" type="pres">
      <dgm:prSet presAssocID="{4A11CB43-95E8-480A-8625-53AD39960277}" presName="Name0" presStyleCnt="0">
        <dgm:presLayoutVars>
          <dgm:dir/>
          <dgm:animLvl val="lvl"/>
          <dgm:resizeHandles/>
        </dgm:presLayoutVars>
      </dgm:prSet>
      <dgm:spPr/>
    </dgm:pt>
    <dgm:pt modelId="{2F48FE46-ABFB-4145-9498-2136B9452322}" type="pres">
      <dgm:prSet presAssocID="{AA180B37-6437-4BFB-A9D7-08C2003DCD28}" presName="linNode" presStyleCnt="0"/>
      <dgm:spPr/>
    </dgm:pt>
    <dgm:pt modelId="{3FB9CFAA-6EA8-4295-A554-C0175F6FA432}" type="pres">
      <dgm:prSet presAssocID="{AA180B37-6437-4BFB-A9D7-08C2003DCD28}" presName="parentShp" presStyleLbl="node1" presStyleIdx="0" presStyleCnt="2">
        <dgm:presLayoutVars>
          <dgm:bulletEnabled val="1"/>
        </dgm:presLayoutVars>
      </dgm:prSet>
      <dgm:spPr/>
    </dgm:pt>
    <dgm:pt modelId="{171E0671-82ED-41F9-9B69-D0DD2395F981}" type="pres">
      <dgm:prSet presAssocID="{AA180B37-6437-4BFB-A9D7-08C2003DCD28}" presName="childShp" presStyleLbl="bgAccFollowNode1" presStyleIdx="0" presStyleCnt="2" custScaleY="35202" custLinFactY="8290" custLinFactNeighborX="1503" custLinFactNeighborY="100000">
        <dgm:presLayoutVars>
          <dgm:bulletEnabled val="1"/>
        </dgm:presLayoutVars>
      </dgm:prSet>
      <dgm:spPr/>
    </dgm:pt>
    <dgm:pt modelId="{714A52C7-3F23-4F50-A0BA-91F95956CAD3}" type="pres">
      <dgm:prSet presAssocID="{8CE08832-8A4C-4927-B86E-8C755366B889}" presName="spacing" presStyleCnt="0"/>
      <dgm:spPr/>
    </dgm:pt>
    <dgm:pt modelId="{21CC7330-CEA2-498C-9B13-08C3F2778B6E}" type="pres">
      <dgm:prSet presAssocID="{7AF7DC87-E8C0-4729-AF06-198DCCBDC6B2}" presName="linNode" presStyleCnt="0"/>
      <dgm:spPr/>
    </dgm:pt>
    <dgm:pt modelId="{9EFD8AF1-A902-4F20-8871-18BFC32D9F83}" type="pres">
      <dgm:prSet presAssocID="{7AF7DC87-E8C0-4729-AF06-198DCCBDC6B2}" presName="parentShp" presStyleLbl="node1" presStyleIdx="1" presStyleCnt="2">
        <dgm:presLayoutVars>
          <dgm:bulletEnabled val="1"/>
        </dgm:presLayoutVars>
      </dgm:prSet>
      <dgm:spPr/>
    </dgm:pt>
    <dgm:pt modelId="{72C5F6C4-C546-4C9E-B999-5AEE47783039}" type="pres">
      <dgm:prSet presAssocID="{7AF7DC87-E8C0-4729-AF06-198DCCBDC6B2}" presName="childShp" presStyleLbl="bgAccFollowNode1" presStyleIdx="1" presStyleCnt="2" custScaleY="36054" custLinFactY="-12177" custLinFactNeighborX="0" custLinFactNeighborY="-100000">
        <dgm:presLayoutVars>
          <dgm:bulletEnabled val="1"/>
        </dgm:presLayoutVars>
      </dgm:prSet>
      <dgm:spPr/>
    </dgm:pt>
  </dgm:ptLst>
  <dgm:cxnLst>
    <dgm:cxn modelId="{23EA5601-5414-4469-8317-CBC2DD044712}" type="presOf" srcId="{DAF5E2CC-92CA-4296-BD99-644C4A30EFCD}" destId="{72C5F6C4-C546-4C9E-B999-5AEE47783039}" srcOrd="0" destOrd="1" presId="urn:microsoft.com/office/officeart/2005/8/layout/vList6"/>
    <dgm:cxn modelId="{21AA6A2F-1278-41DB-918A-4EA78DC2C30E}" type="presOf" srcId="{9C84E669-31ED-456B-BCF7-30ED6EB02ADA}" destId="{72C5F6C4-C546-4C9E-B999-5AEE47783039}" srcOrd="0" destOrd="0" presId="urn:microsoft.com/office/officeart/2005/8/layout/vList6"/>
    <dgm:cxn modelId="{1388BF62-B9AE-48E4-970A-E45B6567DFB4}" srcId="{7AF7DC87-E8C0-4729-AF06-198DCCBDC6B2}" destId="{9C84E669-31ED-456B-BCF7-30ED6EB02ADA}" srcOrd="0" destOrd="0" parTransId="{29FE38C1-D785-45F5-9806-06216E6AB361}" sibTransId="{765BDC01-41D1-447C-8E4F-5663D8B1BE94}"/>
    <dgm:cxn modelId="{EF074C44-5DCC-4DA9-9073-46E5F294608C}" srcId="{AA180B37-6437-4BFB-A9D7-08C2003DCD28}" destId="{4D3BDDFC-0CFA-40FB-A0E2-1679D2958242}" srcOrd="1" destOrd="0" parTransId="{E9EE241D-D9FB-45AA-BB25-8AC3AFCBD43A}" sibTransId="{BDC3AA71-C359-4DB5-B3F7-4B1DE44AA4A4}"/>
    <dgm:cxn modelId="{971D3350-C47C-441B-8CD0-C982CC746372}" type="presOf" srcId="{AA180B37-6437-4BFB-A9D7-08C2003DCD28}" destId="{3FB9CFAA-6EA8-4295-A554-C0175F6FA432}" srcOrd="0" destOrd="0" presId="urn:microsoft.com/office/officeart/2005/8/layout/vList6"/>
    <dgm:cxn modelId="{D066DB79-A181-42FD-9C71-AF8415A40F13}" type="presOf" srcId="{4D3BDDFC-0CFA-40FB-A0E2-1679D2958242}" destId="{171E0671-82ED-41F9-9B69-D0DD2395F981}" srcOrd="0" destOrd="1" presId="urn:microsoft.com/office/officeart/2005/8/layout/vList6"/>
    <dgm:cxn modelId="{31A34388-F00D-4EFA-A708-43E55D1B94F0}" type="presOf" srcId="{7AF7DC87-E8C0-4729-AF06-198DCCBDC6B2}" destId="{9EFD8AF1-A902-4F20-8871-18BFC32D9F83}" srcOrd="0" destOrd="0" presId="urn:microsoft.com/office/officeart/2005/8/layout/vList6"/>
    <dgm:cxn modelId="{D39ACF95-0E59-417E-B5D3-2E2C1187CC10}" srcId="{AA180B37-6437-4BFB-A9D7-08C2003DCD28}" destId="{4F11E762-4EBB-4F97-B6F6-02815B0BF533}" srcOrd="0" destOrd="0" parTransId="{47FDDD95-F4A9-4FCE-AB6A-52DAC9CC8602}" sibTransId="{A41109F0-E5AD-47FF-A7CC-4BE956E44931}"/>
    <dgm:cxn modelId="{9EBED096-FDDC-48C3-8599-E1E80B3A6AD1}" srcId="{4A11CB43-95E8-480A-8625-53AD39960277}" destId="{AA180B37-6437-4BFB-A9D7-08C2003DCD28}" srcOrd="0" destOrd="0" parTransId="{C5F81401-E9D8-461E-BD2A-D8BF213CCD0B}" sibTransId="{8CE08832-8A4C-4927-B86E-8C755366B889}"/>
    <dgm:cxn modelId="{C3873BB0-6FE2-44B1-9122-FE8040E73CA8}" type="presOf" srcId="{4F11E762-4EBB-4F97-B6F6-02815B0BF533}" destId="{171E0671-82ED-41F9-9B69-D0DD2395F981}" srcOrd="0" destOrd="0" presId="urn:microsoft.com/office/officeart/2005/8/layout/vList6"/>
    <dgm:cxn modelId="{07114DD0-0037-4A65-B67F-3AC6B8013D06}" srcId="{4A11CB43-95E8-480A-8625-53AD39960277}" destId="{7AF7DC87-E8C0-4729-AF06-198DCCBDC6B2}" srcOrd="1" destOrd="0" parTransId="{847B11CE-F832-4591-9ED8-E756FDA71901}" sibTransId="{325A8846-7D0E-41A2-9ED9-1C1CC8196279}"/>
    <dgm:cxn modelId="{9EAB7BEF-FE87-446E-9784-4579E461D8CE}" srcId="{7AF7DC87-E8C0-4729-AF06-198DCCBDC6B2}" destId="{DAF5E2CC-92CA-4296-BD99-644C4A30EFCD}" srcOrd="1" destOrd="0" parTransId="{5E9DA7AD-B935-4F90-A18C-3370AA8C2DA1}" sibTransId="{324E1C81-04A8-4DDD-A273-84060AB416FF}"/>
    <dgm:cxn modelId="{4F47C8FB-381B-4CF3-9EEA-F22ECE59C2EC}" type="presOf" srcId="{4A11CB43-95E8-480A-8625-53AD39960277}" destId="{74C80910-3804-4100-A34A-B3C7EDF41665}" srcOrd="0" destOrd="0" presId="urn:microsoft.com/office/officeart/2005/8/layout/vList6"/>
    <dgm:cxn modelId="{5EC0AFC5-36DB-4194-96E5-8D24F4075EB4}" type="presParOf" srcId="{74C80910-3804-4100-A34A-B3C7EDF41665}" destId="{2F48FE46-ABFB-4145-9498-2136B9452322}" srcOrd="0" destOrd="0" presId="urn:microsoft.com/office/officeart/2005/8/layout/vList6"/>
    <dgm:cxn modelId="{38F55B18-4D64-4967-9388-B8C131CCD4CB}" type="presParOf" srcId="{2F48FE46-ABFB-4145-9498-2136B9452322}" destId="{3FB9CFAA-6EA8-4295-A554-C0175F6FA432}" srcOrd="0" destOrd="0" presId="urn:microsoft.com/office/officeart/2005/8/layout/vList6"/>
    <dgm:cxn modelId="{307CC61B-D596-4957-8BDD-8A762CC8AF9C}" type="presParOf" srcId="{2F48FE46-ABFB-4145-9498-2136B9452322}" destId="{171E0671-82ED-41F9-9B69-D0DD2395F981}" srcOrd="1" destOrd="0" presId="urn:microsoft.com/office/officeart/2005/8/layout/vList6"/>
    <dgm:cxn modelId="{BEBB44D7-3770-457A-A295-379379D9AC20}" type="presParOf" srcId="{74C80910-3804-4100-A34A-B3C7EDF41665}" destId="{714A52C7-3F23-4F50-A0BA-91F95956CAD3}" srcOrd="1" destOrd="0" presId="urn:microsoft.com/office/officeart/2005/8/layout/vList6"/>
    <dgm:cxn modelId="{D98DB2BC-DB23-47DA-86EE-243C808A0AEE}" type="presParOf" srcId="{74C80910-3804-4100-A34A-B3C7EDF41665}" destId="{21CC7330-CEA2-498C-9B13-08C3F2778B6E}" srcOrd="2" destOrd="0" presId="urn:microsoft.com/office/officeart/2005/8/layout/vList6"/>
    <dgm:cxn modelId="{9968CE2B-AAFF-4A47-9BFE-79ADD5437F84}" type="presParOf" srcId="{21CC7330-CEA2-498C-9B13-08C3F2778B6E}" destId="{9EFD8AF1-A902-4F20-8871-18BFC32D9F83}" srcOrd="0" destOrd="0" presId="urn:microsoft.com/office/officeart/2005/8/layout/vList6"/>
    <dgm:cxn modelId="{7D21EFF1-57EF-4A56-9F08-D8CA22820E95}" type="presParOf" srcId="{21CC7330-CEA2-498C-9B13-08C3F2778B6E}" destId="{72C5F6C4-C546-4C9E-B999-5AEE47783039}"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1E0671-82ED-41F9-9B69-D0DD2395F981}">
      <dsp:nvSpPr>
        <dsp:cNvPr id="0" name=""/>
        <dsp:cNvSpPr/>
      </dsp:nvSpPr>
      <dsp:spPr>
        <a:xfrm>
          <a:off x="750471" y="1624003"/>
          <a:ext cx="1125706" cy="406270"/>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2">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ctr" defTabSz="355600">
            <a:lnSpc>
              <a:spcPct val="90000"/>
            </a:lnSpc>
            <a:spcBef>
              <a:spcPct val="0"/>
            </a:spcBef>
            <a:spcAft>
              <a:spcPct val="15000"/>
            </a:spcAft>
            <a:buNone/>
          </a:pPr>
          <a:r>
            <a:rPr lang="en-US" sz="800" kern="1200" dirty="0">
              <a:latin typeface="Times New Roman" panose="02020603050405020304" pitchFamily="18" charset="0"/>
              <a:cs typeface="Times New Roman" panose="02020603050405020304" pitchFamily="18" charset="0"/>
            </a:rPr>
            <a:t>Weekends</a:t>
          </a:r>
        </a:p>
        <a:p>
          <a:pPr marL="57150" lvl="1" indent="-57150" algn="ctr" defTabSz="355600">
            <a:lnSpc>
              <a:spcPct val="90000"/>
            </a:lnSpc>
            <a:spcBef>
              <a:spcPct val="0"/>
            </a:spcBef>
            <a:spcAft>
              <a:spcPct val="15000"/>
            </a:spcAft>
            <a:buNone/>
          </a:pPr>
          <a:r>
            <a:rPr lang="en-US" sz="800" kern="1200" dirty="0">
              <a:latin typeface="Times New Roman" panose="02020603050405020304" pitchFamily="18" charset="0"/>
              <a:cs typeface="Times New Roman" panose="02020603050405020304" pitchFamily="18" charset="0"/>
            </a:rPr>
            <a:t>Load Factor %</a:t>
          </a:r>
        </a:p>
      </dsp:txBody>
      <dsp:txXfrm>
        <a:off x="750471" y="1674787"/>
        <a:ext cx="973355" cy="304702"/>
      </dsp:txXfrm>
    </dsp:sp>
    <dsp:sp modelId="{3FB9CFAA-6EA8-4295-A554-C0175F6FA432}">
      <dsp:nvSpPr>
        <dsp:cNvPr id="0" name=""/>
        <dsp:cNvSpPr/>
      </dsp:nvSpPr>
      <dsp:spPr>
        <a:xfrm>
          <a:off x="0" y="295"/>
          <a:ext cx="750471" cy="1154111"/>
        </a:xfrm>
        <a:prstGeom prst="roundRect">
          <a:avLst/>
        </a:prstGeom>
        <a:solidFill>
          <a:schemeClr val="accent6"/>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lumMod val="95000"/>
                </a:schemeClr>
              </a:solidFill>
            </a:rPr>
            <a:t>Air Lines</a:t>
          </a:r>
        </a:p>
      </dsp:txBody>
      <dsp:txXfrm>
        <a:off x="36635" y="36930"/>
        <a:ext cx="677201" cy="1080841"/>
      </dsp:txXfrm>
    </dsp:sp>
    <dsp:sp modelId="{72C5F6C4-C546-4C9E-B999-5AEE47783039}">
      <dsp:nvSpPr>
        <dsp:cNvPr id="0" name=""/>
        <dsp:cNvSpPr/>
      </dsp:nvSpPr>
      <dsp:spPr>
        <a:xfrm>
          <a:off x="750471" y="344174"/>
          <a:ext cx="1125706" cy="416103"/>
        </a:xfrm>
        <a:prstGeom prst="rightArrow">
          <a:avLst>
            <a:gd name="adj1" fmla="val 75000"/>
            <a:gd name="adj2" fmla="val 50000"/>
          </a:avLst>
        </a:prstGeom>
        <a:solidFill>
          <a:schemeClr val="accent1">
            <a:alpha val="90000"/>
            <a:tint val="40000"/>
            <a:hueOff val="0"/>
            <a:satOff val="0"/>
            <a:lumOff val="0"/>
            <a:alphaOff val="0"/>
          </a:schemeClr>
        </a:solidFill>
        <a:ln w="25400" cap="flat" cmpd="sng" algn="ctr">
          <a:solidFill>
            <a:schemeClr val="accent1">
              <a:alpha val="9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ctr" defTabSz="355600">
            <a:lnSpc>
              <a:spcPct val="90000"/>
            </a:lnSpc>
            <a:spcBef>
              <a:spcPct val="0"/>
            </a:spcBef>
            <a:spcAft>
              <a:spcPct val="15000"/>
            </a:spcAft>
            <a:buNone/>
          </a:pPr>
          <a:r>
            <a:rPr lang="en-US" sz="800" kern="1200" dirty="0">
              <a:latin typeface="Times New Roman" panose="02020603050405020304" pitchFamily="18" charset="0"/>
              <a:cs typeface="Times New Roman" panose="02020603050405020304" pitchFamily="18" charset="0"/>
            </a:rPr>
            <a:t>Weekdays</a:t>
          </a:r>
        </a:p>
        <a:p>
          <a:pPr marL="57150" lvl="1" indent="-57150" algn="ctr" defTabSz="355600">
            <a:lnSpc>
              <a:spcPct val="90000"/>
            </a:lnSpc>
            <a:spcBef>
              <a:spcPct val="0"/>
            </a:spcBef>
            <a:spcAft>
              <a:spcPct val="15000"/>
            </a:spcAft>
            <a:buNone/>
          </a:pPr>
          <a:r>
            <a:rPr lang="en-US" sz="800" kern="1200" dirty="0">
              <a:latin typeface="Times New Roman" panose="02020603050405020304" pitchFamily="18" charset="0"/>
              <a:cs typeface="Times New Roman" panose="02020603050405020304" pitchFamily="18" charset="0"/>
            </a:rPr>
            <a:t>Load Factors %</a:t>
          </a:r>
        </a:p>
      </dsp:txBody>
      <dsp:txXfrm>
        <a:off x="750471" y="396187"/>
        <a:ext cx="969667" cy="312077"/>
      </dsp:txXfrm>
    </dsp:sp>
    <dsp:sp modelId="{9EFD8AF1-A902-4F20-8871-18BFC32D9F83}">
      <dsp:nvSpPr>
        <dsp:cNvPr id="0" name=""/>
        <dsp:cNvSpPr/>
      </dsp:nvSpPr>
      <dsp:spPr>
        <a:xfrm>
          <a:off x="0" y="1269818"/>
          <a:ext cx="750471" cy="1154111"/>
        </a:xfrm>
        <a:prstGeom prst="roundRect">
          <a:avLst/>
        </a:prstGeom>
        <a:solidFill>
          <a:schemeClr val="accent1">
            <a:hueOff val="0"/>
            <a:satOff val="0"/>
            <a:lumOff val="0"/>
            <a:alphaOff val="0"/>
          </a:schemeClr>
        </a:solidFill>
        <a:ln w="25400" cap="flat" cmpd="sng" algn="ctr">
          <a:solidFill>
            <a:schemeClr val="accent2"/>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kern="1200" dirty="0"/>
            <a:t>Air Lines</a:t>
          </a:r>
        </a:p>
      </dsp:txBody>
      <dsp:txXfrm>
        <a:off x="36635" y="1306453"/>
        <a:ext cx="677201" cy="1080841"/>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12/2/2025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dirty="0"/>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5036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6720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5043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238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350B06-B074-48FC-8CFD-53D2CD8FB95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03580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7420" y="2204884"/>
            <a:ext cx="7912510" cy="1157748"/>
          </a:xfrm>
          <a:noFill/>
          <a:effectLst>
            <a:outerShdw blurRad="50800" dist="38100" dir="2700000" algn="tl" rotWithShape="0">
              <a:prstClr val="black">
                <a:alpha val="40000"/>
              </a:prstClr>
            </a:outerShdw>
          </a:effectLst>
        </p:spPr>
        <p:txBody>
          <a:bodyPr>
            <a:normAutofit/>
          </a:bodyPr>
          <a:lstStyle>
            <a:lvl1pPr algn="r">
              <a:defRPr sz="3600">
                <a:solidFill>
                  <a:schemeClr val="accent6">
                    <a:lumMod val="40000"/>
                    <a:lumOff val="60000"/>
                  </a:schemeClr>
                </a:solidFill>
              </a:defRPr>
            </a:lvl1pPr>
          </a:lstStyle>
          <a:p>
            <a:r>
              <a:rPr lang="en-US" dirty="0"/>
              <a:t>Click to edit Master title style</a:t>
            </a:r>
          </a:p>
        </p:txBody>
      </p:sp>
      <p:sp>
        <p:nvSpPr>
          <p:cNvPr id="3" name="Subtitle 2"/>
          <p:cNvSpPr>
            <a:spLocks noGrp="1"/>
          </p:cNvSpPr>
          <p:nvPr>
            <p:ph type="subTitle" idx="1"/>
          </p:nvPr>
        </p:nvSpPr>
        <p:spPr>
          <a:xfrm>
            <a:off x="722671" y="3524861"/>
            <a:ext cx="7942007" cy="766920"/>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1591" y="497181"/>
            <a:ext cx="8246070" cy="763526"/>
          </a:xfrm>
        </p:spPr>
        <p:txBody>
          <a:bodyPr>
            <a:normAutofit/>
          </a:bodyPr>
          <a:lstStyle>
            <a:lvl1pPr algn="l">
              <a:defRPr sz="3600" baseline="0">
                <a:solidFill>
                  <a:schemeClr val="accent6">
                    <a:lumMod val="40000"/>
                    <a:lumOff val="6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253614"/>
            <a:ext cx="8246070" cy="3608708"/>
          </a:xfrm>
        </p:spPr>
        <p:txBody>
          <a:bodyPr/>
          <a:lstStyle>
            <a:lvl1pPr algn="l">
              <a:defRPr sz="2800">
                <a:solidFill>
                  <a:srgbClr val="0070C0"/>
                </a:solidFill>
              </a:defRPr>
            </a:lvl1pPr>
            <a:lvl2pPr algn="l">
              <a:defRPr>
                <a:solidFill>
                  <a:srgbClr val="0070C0"/>
                </a:solidFill>
              </a:defRPr>
            </a:lvl2pPr>
            <a:lvl3pPr algn="l">
              <a:defRPr>
                <a:solidFill>
                  <a:srgbClr val="0070C0"/>
                </a:solidFill>
              </a:defRPr>
            </a:lvl3pPr>
            <a:lvl4pPr algn="l">
              <a:defRPr>
                <a:solidFill>
                  <a:srgbClr val="0070C0"/>
                </a:solidFill>
              </a:defRPr>
            </a:lvl4pPr>
            <a:lvl5pPr algn="l">
              <a:defRPr>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3964" y="391788"/>
            <a:ext cx="6859505" cy="725349"/>
          </a:xfrm>
        </p:spPr>
        <p:txBody>
          <a:bodyPr>
            <a:normAutofit/>
          </a:bodyPr>
          <a:lstStyle>
            <a:lvl1pPr algn="l">
              <a:defRPr sz="360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63964" y="1155313"/>
            <a:ext cx="6859505" cy="3511061"/>
          </a:xfrm>
        </p:spPr>
        <p:txBody>
          <a:bodyPr/>
          <a:lstStyle>
            <a:lvl1pPr>
              <a:defRPr sz="2800">
                <a:solidFill>
                  <a:srgbClr val="0070C0"/>
                </a:solidFill>
              </a:defRPr>
            </a:lvl1pPr>
            <a:lvl2pPr>
              <a:defRPr>
                <a:solidFill>
                  <a:srgbClr val="0070C0"/>
                </a:solidFill>
              </a:defRPr>
            </a:lvl2pPr>
            <a:lvl3pPr>
              <a:defRPr>
                <a:solidFill>
                  <a:srgbClr val="0070C0"/>
                </a:solidFill>
              </a:defRPr>
            </a:lvl3pPr>
            <a:lvl4pPr>
              <a:defRPr>
                <a:solidFill>
                  <a:srgbClr val="0070C0"/>
                </a:solidFill>
              </a:defRPr>
            </a:lvl4pPr>
            <a:lvl5pPr>
              <a:defRPr>
                <a:solidFill>
                  <a:srgbClr val="0070C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5317" y="551867"/>
            <a:ext cx="8093365" cy="763525"/>
          </a:xfrm>
        </p:spPr>
        <p:txBody>
          <a:bodyPr>
            <a:normAutofit/>
          </a:bodyPr>
          <a:lstStyle>
            <a:lvl1pPr algn="l">
              <a:defRPr sz="3600" baseline="0">
                <a:solidFill>
                  <a:schemeClr val="accent6">
                    <a:lumMod val="40000"/>
                    <a:lumOff val="6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515411"/>
            <a:ext cx="4040188" cy="479822"/>
          </a:xfrm>
        </p:spPr>
        <p:txBody>
          <a:bodyPr anchor="b"/>
          <a:lstStyle>
            <a:lvl1pPr marL="0" indent="0" algn="ctr">
              <a:buNone/>
              <a:defRPr sz="2400" b="1">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1987808"/>
            <a:ext cx="4040188" cy="2276294"/>
          </a:xfrm>
        </p:spPr>
        <p:txBody>
          <a:bodyPr/>
          <a:lstStyle>
            <a:lvl1pPr algn="ctr">
              <a:defRPr sz="2400">
                <a:solidFill>
                  <a:srgbClr val="0070C0"/>
                </a:solidFill>
              </a:defRPr>
            </a:lvl1pPr>
            <a:lvl2pPr algn="ctr">
              <a:defRPr sz="2000">
                <a:solidFill>
                  <a:srgbClr val="0070C0"/>
                </a:solidFill>
              </a:defRPr>
            </a:lvl2pPr>
            <a:lvl3pPr algn="ctr">
              <a:defRPr sz="1800">
                <a:solidFill>
                  <a:srgbClr val="0070C0"/>
                </a:solidFill>
              </a:defRPr>
            </a:lvl3pPr>
            <a:lvl4pPr algn="ctr">
              <a:defRPr sz="1600">
                <a:solidFill>
                  <a:srgbClr val="0070C0"/>
                </a:solidFill>
              </a:defRPr>
            </a:lvl4pPr>
            <a:lvl5pPr algn="ctr">
              <a:defRPr sz="1600">
                <a:solidFill>
                  <a:srgbClr val="0070C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515411"/>
            <a:ext cx="4041775" cy="479822"/>
          </a:xfrm>
        </p:spPr>
        <p:txBody>
          <a:bodyPr anchor="b"/>
          <a:lstStyle>
            <a:lvl1pPr marL="0" indent="0" algn="ctr">
              <a:buNone/>
              <a:defRPr sz="2400" b="1">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1987808"/>
            <a:ext cx="4041775" cy="2276294"/>
          </a:xfrm>
        </p:spPr>
        <p:txBody>
          <a:bodyPr/>
          <a:lstStyle>
            <a:lvl1pPr algn="ctr">
              <a:defRPr sz="2400">
                <a:solidFill>
                  <a:srgbClr val="0070C0"/>
                </a:solidFill>
              </a:defRPr>
            </a:lvl1pPr>
            <a:lvl2pPr algn="ctr">
              <a:defRPr sz="2000">
                <a:solidFill>
                  <a:srgbClr val="0070C0"/>
                </a:solidFill>
              </a:defRPr>
            </a:lvl2pPr>
            <a:lvl3pPr algn="ctr">
              <a:defRPr sz="1800">
                <a:solidFill>
                  <a:srgbClr val="0070C0"/>
                </a:solidFill>
              </a:defRPr>
            </a:lvl3pPr>
            <a:lvl4pPr algn="ctr">
              <a:defRPr sz="1600">
                <a:solidFill>
                  <a:srgbClr val="0070C0"/>
                </a:solidFill>
              </a:defRPr>
            </a:lvl4pPr>
            <a:lvl5pPr algn="ctr">
              <a:defRPr sz="1600">
                <a:solidFill>
                  <a:srgbClr val="0070C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dirty="0"/>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48965" y="2419045"/>
            <a:ext cx="8246070" cy="1374345"/>
          </a:xfrm>
          <a:noFill/>
          <a:effectLst>
            <a:outerShdw blurRad="50800" dist="38100" dir="2700000" algn="tl" rotWithShape="0">
              <a:prstClr val="black">
                <a:alpha val="40000"/>
              </a:prstClr>
            </a:outerShdw>
          </a:effectLst>
        </p:spPr>
        <p:txBody>
          <a:bodyPr>
            <a:normAutofit/>
          </a:bodyPr>
          <a:lstStyle>
            <a:lvl1pPr algn="ctr">
              <a:defRPr sz="3600">
                <a:solidFill>
                  <a:srgbClr val="0070C0"/>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48965" y="3806000"/>
            <a:ext cx="8231372" cy="920846"/>
          </a:xfrm>
        </p:spPr>
        <p:txBody>
          <a:bodyPr>
            <a:normAutofit/>
          </a:bodyPr>
          <a:lstStyle>
            <a:lvl1pPr marL="0" indent="0" algn="ctr">
              <a:buNone/>
              <a:defRPr sz="2800" b="0" i="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74F12-AA26-4AC8-9962-C36BB8F3255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2CCC60-E8CD-4174-8B1A-7DF615B22EE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8980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074F12-AA26-4AC8-9962-C36BB8F32554}" type="datetimeFigureOut">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12/2/2025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2CCC60-E8CD-4174-8B1A-7DF615B22EE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513538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dirty="0"/>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12/2/2025</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dirty="0"/>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3972237841"/>
      </p:ext>
    </p:extLst>
  </p:cSld>
  <p:clrMap bg1="lt1" tx1="dk1" bg2="lt2" tx2="dk2" accent1="accent1" accent2="accent2" accent3="accent3" accent4="accent4" accent5="accent5" accent6="accent6" hlink="hlink" folHlink="folHlink"/>
  <p:sldLayoutIdLst>
    <p:sldLayoutId id="2147483662" r:id="rId1"/>
    <p:sldLayoutId id="2147483665"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chart" Target="../charts/chart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419044"/>
            <a:ext cx="8246070" cy="1374345"/>
          </a:xfrm>
        </p:spPr>
        <p:txBody>
          <a:bodyPr>
            <a:normAutofit/>
          </a:bodyPr>
          <a:lstStyle/>
          <a:p>
            <a:r>
              <a:rPr lang="en-US" sz="3200" b="1" dirty="0">
                <a:latin typeface="Times New Roman" panose="02020603050405020304" pitchFamily="18" charset="0"/>
                <a:cs typeface="Times New Roman" panose="02020603050405020304" pitchFamily="18" charset="0"/>
              </a:rPr>
              <a:t>HIGH CLOUD AIRLNES ANALYSIS</a:t>
            </a:r>
          </a:p>
        </p:txBody>
      </p:sp>
      <p:sp>
        <p:nvSpPr>
          <p:cNvPr id="3" name="TextBox 2">
            <a:extLst>
              <a:ext uri="{FF2B5EF4-FFF2-40B4-BE49-F238E27FC236}">
                <a16:creationId xmlns:a16="http://schemas.microsoft.com/office/drawing/2014/main" id="{1DBC5754-B2D6-4791-B2CA-4896814BDA60}"/>
              </a:ext>
            </a:extLst>
          </p:cNvPr>
          <p:cNvSpPr txBox="1"/>
          <p:nvPr/>
        </p:nvSpPr>
        <p:spPr>
          <a:xfrm>
            <a:off x="6422065" y="3955312"/>
            <a:ext cx="2272970" cy="830997"/>
          </a:xfrm>
          <a:prstGeom prst="rect">
            <a:avLst/>
          </a:prstGeom>
          <a:noFill/>
        </p:spPr>
        <p:txBody>
          <a:bodyPr wrap="square" rtlCol="0">
            <a:spAutoFit/>
          </a:bodyPr>
          <a:lstStyle/>
          <a:p>
            <a:r>
              <a:rPr lang="en-US" sz="2400" dirty="0">
                <a:solidFill>
                  <a:srgbClr val="FF0000"/>
                </a:solidFill>
              </a:rPr>
              <a:t>PRESENTED BY:</a:t>
            </a:r>
          </a:p>
          <a:p>
            <a:r>
              <a:rPr lang="en-US" sz="2400" dirty="0">
                <a:solidFill>
                  <a:srgbClr val="FF0000"/>
                </a:solidFill>
              </a:rPr>
              <a:t>    Nisha P V</a:t>
            </a:r>
          </a:p>
        </p:txBody>
      </p:sp>
    </p:spTree>
    <p:extLst>
      <p:ext uri="{BB962C8B-B14F-4D97-AF65-F5344CB8AC3E}">
        <p14:creationId xmlns:p14="http://schemas.microsoft.com/office/powerpoint/2010/main" val="198931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9ADA32-3B3B-4EA4-BB4D-7948A7B4D216}"/>
              </a:ext>
            </a:extLst>
          </p:cNvPr>
          <p:cNvSpPr>
            <a:spLocks noGrp="1"/>
          </p:cNvSpPr>
          <p:nvPr>
            <p:ph type="title"/>
          </p:nvPr>
        </p:nvSpPr>
        <p:spPr/>
        <p:txBody>
          <a:bodyPr/>
          <a:lstStyle/>
          <a:p>
            <a:pPr algn="ctr"/>
            <a:r>
              <a:rPr lang="en-US" dirty="0"/>
              <a:t>CONTENTS</a:t>
            </a:r>
          </a:p>
        </p:txBody>
      </p:sp>
      <p:sp>
        <p:nvSpPr>
          <p:cNvPr id="6" name="Content Placeholder 5">
            <a:extLst>
              <a:ext uri="{FF2B5EF4-FFF2-40B4-BE49-F238E27FC236}">
                <a16:creationId xmlns:a16="http://schemas.microsoft.com/office/drawing/2014/main" id="{E9C783FE-7FEE-42A1-A307-E5F348000A19}"/>
              </a:ext>
            </a:extLst>
          </p:cNvPr>
          <p:cNvSpPr>
            <a:spLocks noGrp="1"/>
          </p:cNvSpPr>
          <p:nvPr>
            <p:ph idx="1"/>
          </p:nvPr>
        </p:nvSpPr>
        <p:spPr>
          <a:xfrm>
            <a:off x="263964" y="1346699"/>
            <a:ext cx="6859505" cy="3511061"/>
          </a:xfrm>
        </p:spPr>
        <p:txBody>
          <a:bodyPr/>
          <a:lstStyle/>
          <a:p>
            <a:r>
              <a:rPr lang="en-US" dirty="0">
                <a:solidFill>
                  <a:srgbClr val="002060"/>
                </a:solidFill>
              </a:rPr>
              <a:t>Project Overview</a:t>
            </a:r>
          </a:p>
          <a:p>
            <a:r>
              <a:rPr lang="en-US" dirty="0">
                <a:solidFill>
                  <a:srgbClr val="002060"/>
                </a:solidFill>
                <a:latin typeface="Times New Roman" panose="02020603050405020304" pitchFamily="18" charset="0"/>
                <a:cs typeface="Times New Roman" panose="02020603050405020304" pitchFamily="18" charset="0"/>
              </a:rPr>
              <a:t>KPI - Insights &amp; Analysis</a:t>
            </a:r>
          </a:p>
          <a:p>
            <a:r>
              <a:rPr lang="en-US" dirty="0">
                <a:solidFill>
                  <a:srgbClr val="002060"/>
                </a:solidFill>
                <a:latin typeface="Times New Roman" panose="02020603050405020304" pitchFamily="18" charset="0"/>
                <a:cs typeface="Times New Roman" panose="02020603050405020304" pitchFamily="18" charset="0"/>
              </a:rPr>
              <a:t>Data Model Challenges</a:t>
            </a:r>
          </a:p>
          <a:p>
            <a:r>
              <a:rPr lang="en-US" dirty="0">
                <a:solidFill>
                  <a:srgbClr val="002060"/>
                </a:solidFill>
                <a:latin typeface="Times New Roman" panose="02020603050405020304" pitchFamily="18" charset="0"/>
                <a:cs typeface="Times New Roman" panose="02020603050405020304" pitchFamily="18" charset="0"/>
              </a:rPr>
              <a:t>Conclusion</a:t>
            </a:r>
          </a:p>
          <a:p>
            <a:endParaRPr lang="en-US" dirty="0"/>
          </a:p>
          <a:p>
            <a:endParaRPr lang="en-US" dirty="0"/>
          </a:p>
        </p:txBody>
      </p:sp>
    </p:spTree>
    <p:extLst>
      <p:ext uri="{BB962C8B-B14F-4D97-AF65-F5344CB8AC3E}">
        <p14:creationId xmlns:p14="http://schemas.microsoft.com/office/powerpoint/2010/main" val="1708153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194D5-4E2A-4A11-9304-74D599536CFF}"/>
              </a:ext>
            </a:extLst>
          </p:cNvPr>
          <p:cNvSpPr txBox="1"/>
          <p:nvPr/>
        </p:nvSpPr>
        <p:spPr>
          <a:xfrm>
            <a:off x="2799203" y="2248582"/>
            <a:ext cx="5411973" cy="646331"/>
          </a:xfrm>
          <a:prstGeom prst="rect">
            <a:avLst/>
          </a:prstGeom>
          <a:noFill/>
        </p:spPr>
        <p:txBody>
          <a:bodyPr wrap="square" rtlCol="0">
            <a:spAutoFit/>
          </a:bodyPr>
          <a:lstStyle/>
          <a:p>
            <a:r>
              <a:rPr lang="en-US" sz="3600" b="1" dirty="0">
                <a:solidFill>
                  <a:srgbClr val="002060"/>
                </a:solidFill>
                <a:latin typeface="Times New Roman" panose="02020603050405020304" pitchFamily="18" charset="0"/>
                <a:cs typeface="Times New Roman" panose="02020603050405020304" pitchFamily="18" charset="0"/>
              </a:rPr>
              <a:t>Project Overview</a:t>
            </a:r>
          </a:p>
        </p:txBody>
      </p:sp>
      <p:pic>
        <p:nvPicPr>
          <p:cNvPr id="8" name="Graphic 7" descr="Airplane with solid fill">
            <a:extLst>
              <a:ext uri="{FF2B5EF4-FFF2-40B4-BE49-F238E27FC236}">
                <a16:creationId xmlns:a16="http://schemas.microsoft.com/office/drawing/2014/main" id="{06484FE5-BF31-4330-8681-4177BC0B1B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579915">
            <a:off x="2269071" y="2162221"/>
            <a:ext cx="656640" cy="819052"/>
          </a:xfrm>
          <a:prstGeom prst="rect">
            <a:avLst/>
          </a:prstGeom>
        </p:spPr>
      </p:pic>
    </p:spTree>
    <p:extLst>
      <p:ext uri="{BB962C8B-B14F-4D97-AF65-F5344CB8AC3E}">
        <p14:creationId xmlns:p14="http://schemas.microsoft.com/office/powerpoint/2010/main" val="664483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52FF854-0626-4E73-9ADE-BC42ACDEB3C0}"/>
              </a:ext>
            </a:extLst>
          </p:cNvPr>
          <p:cNvSpPr txBox="1"/>
          <p:nvPr/>
        </p:nvSpPr>
        <p:spPr>
          <a:xfrm>
            <a:off x="180752" y="423469"/>
            <a:ext cx="6794205" cy="4690515"/>
          </a:xfrm>
          <a:prstGeom prst="rect">
            <a:avLst/>
          </a:prstGeom>
          <a:noFill/>
        </p:spPr>
        <p:txBody>
          <a:bodyPr wrap="square">
            <a:spAutoFit/>
          </a:bodyPr>
          <a:lstStyle/>
          <a:p>
            <a:pPr lvl="0" algn="just"/>
            <a:r>
              <a:rPr lang="en-US" dirty="0">
                <a:solidFill>
                  <a:srgbClr val="002060"/>
                </a:solidFill>
                <a:latin typeface="Times New Roman" panose="02020603050405020304" pitchFamily="18" charset="0"/>
                <a:cs typeface="Times New Roman" panose="02020603050405020304" pitchFamily="18" charset="0"/>
              </a:rPr>
              <a:t>The </a:t>
            </a:r>
            <a:r>
              <a:rPr lang="en-US" b="1" dirty="0">
                <a:solidFill>
                  <a:srgbClr val="002060"/>
                </a:solidFill>
                <a:latin typeface="Times New Roman" panose="02020603050405020304" pitchFamily="18" charset="0"/>
                <a:cs typeface="Times New Roman" panose="02020603050405020304" pitchFamily="18" charset="0"/>
              </a:rPr>
              <a:t>High Clouds Project</a:t>
            </a:r>
            <a:r>
              <a:rPr lang="en-US" dirty="0">
                <a:solidFill>
                  <a:srgbClr val="002060"/>
                </a:solidFill>
                <a:latin typeface="Times New Roman" panose="02020603050405020304" pitchFamily="18" charset="0"/>
                <a:cs typeface="Times New Roman" panose="02020603050405020304" pitchFamily="18" charset="0"/>
              </a:rPr>
              <a:t> aims to analyze a comprehensive set of operational performance indicators (KPIs) within the U.S. commercial aviation sector. The study leverages real-world data to identify patterns in airline efficiency, passenger transport trends, and route optimization to stay competitive in a dynamic and challenging business environment. It helps airlines navigate operational complexities, mitigate risks and enhance overall performance.</a:t>
            </a:r>
          </a:p>
          <a:p>
            <a:pPr lvl="0" algn="just">
              <a:lnSpc>
                <a:spcPct val="80000"/>
              </a:lnSpc>
            </a:pPr>
            <a:endParaRPr lang="en-US" sz="1800" dirty="0"/>
          </a:p>
          <a:p>
            <a:pPr lvl="0" algn="l">
              <a:lnSpc>
                <a:spcPct val="80000"/>
              </a:lnSpc>
            </a:pPr>
            <a:r>
              <a:rPr lang="en-US" sz="2000" b="1" dirty="0">
                <a:solidFill>
                  <a:srgbClr val="000000"/>
                </a:solidFill>
                <a:latin typeface="Times New Roman" panose="02020603050405020304" pitchFamily="18" charset="0"/>
                <a:cs typeface="Times New Roman" panose="02020603050405020304" pitchFamily="18" charset="0"/>
              </a:rPr>
              <a:t>Project Goals:</a:t>
            </a:r>
          </a:p>
          <a:p>
            <a:pPr lvl="0" algn="l">
              <a:lnSpc>
                <a:spcPct val="80000"/>
              </a:lnSpc>
            </a:pPr>
            <a:endParaRPr lang="en-US" b="1" dirty="0">
              <a:solidFill>
                <a:srgbClr val="000000"/>
              </a:solidFill>
              <a:latin typeface="Times New Roman" panose="02020603050405020304" pitchFamily="18" charset="0"/>
              <a:cs typeface="Times New Roman" panose="02020603050405020304" pitchFamily="18" charset="0"/>
            </a:endParaRPr>
          </a:p>
          <a:p>
            <a:pPr marL="342900" lvl="0" indent="-342900" algn="l">
              <a:lnSpc>
                <a:spcPct val="80000"/>
              </a:lnSpc>
              <a:buFont typeface="Wingdings" pitchFamily="2"/>
              <a:buChar char="q"/>
            </a:pPr>
            <a:r>
              <a:rPr lang="en-US" sz="1600" dirty="0">
                <a:solidFill>
                  <a:srgbClr val="002060"/>
                </a:solidFill>
                <a:latin typeface="Times New Roman" panose="02020603050405020304" pitchFamily="18" charset="0"/>
                <a:cs typeface="Times New Roman" panose="02020603050405020304" pitchFamily="18" charset="0"/>
              </a:rPr>
              <a:t>To identify trends in airline operations from 2008 to 2013.</a:t>
            </a:r>
          </a:p>
          <a:p>
            <a:pPr lvl="0" algn="l">
              <a:lnSpc>
                <a:spcPct val="80000"/>
              </a:lnSpc>
            </a:pPr>
            <a:endParaRPr lang="en-US" sz="1600" dirty="0">
              <a:solidFill>
                <a:srgbClr val="002060"/>
              </a:solidFill>
              <a:latin typeface="Times New Roman" panose="02020603050405020304" pitchFamily="18" charset="0"/>
              <a:cs typeface="Times New Roman" panose="02020603050405020304" pitchFamily="18" charset="0"/>
            </a:endParaRPr>
          </a:p>
          <a:p>
            <a:pPr marL="342900" lvl="0" indent="-342900" algn="l">
              <a:lnSpc>
                <a:spcPct val="80000"/>
              </a:lnSpc>
              <a:buFont typeface="Wingdings" pitchFamily="2"/>
              <a:buChar char="q"/>
            </a:pPr>
            <a:r>
              <a:rPr lang="en-US" sz="1600" dirty="0">
                <a:solidFill>
                  <a:srgbClr val="002060"/>
                </a:solidFill>
                <a:latin typeface="Times New Roman" panose="02020603050405020304" pitchFamily="18" charset="0"/>
                <a:cs typeface="Times New Roman" panose="02020603050405020304" pitchFamily="18" charset="0"/>
              </a:rPr>
              <a:t>To support data-driven decision-making for scheduling, fleet planning, and resource allocation.</a:t>
            </a:r>
          </a:p>
          <a:p>
            <a:pPr lvl="0" algn="l">
              <a:lnSpc>
                <a:spcPct val="80000"/>
              </a:lnSpc>
            </a:pPr>
            <a:endParaRPr lang="en-US" sz="1600" dirty="0">
              <a:solidFill>
                <a:srgbClr val="002060"/>
              </a:solidFill>
              <a:latin typeface="Times New Roman" panose="02020603050405020304" pitchFamily="18" charset="0"/>
              <a:cs typeface="Times New Roman" panose="02020603050405020304" pitchFamily="18" charset="0"/>
            </a:endParaRPr>
          </a:p>
          <a:p>
            <a:pPr marL="342900" lvl="0" indent="-342900" algn="l">
              <a:lnSpc>
                <a:spcPct val="80000"/>
              </a:lnSpc>
              <a:buFont typeface="Wingdings" pitchFamily="2"/>
              <a:buChar char="q"/>
            </a:pPr>
            <a:r>
              <a:rPr lang="en-US" sz="1600" dirty="0">
                <a:solidFill>
                  <a:srgbClr val="002060"/>
                </a:solidFill>
                <a:latin typeface="Times New Roman" panose="02020603050405020304" pitchFamily="18" charset="0"/>
                <a:cs typeface="Times New Roman" panose="02020603050405020304" pitchFamily="18" charset="0"/>
              </a:rPr>
              <a:t>To explore how passenger behavior and route demands influence performance metrics.</a:t>
            </a:r>
          </a:p>
          <a:p>
            <a:pPr lvl="0" algn="l">
              <a:lnSpc>
                <a:spcPct val="80000"/>
              </a:lnSpc>
            </a:pPr>
            <a:endParaRPr lang="en-US" sz="1600" dirty="0">
              <a:solidFill>
                <a:srgbClr val="002060"/>
              </a:solidFill>
              <a:latin typeface="Times New Roman" panose="02020603050405020304" pitchFamily="18" charset="0"/>
              <a:cs typeface="Times New Roman" panose="02020603050405020304" pitchFamily="18" charset="0"/>
            </a:endParaRPr>
          </a:p>
          <a:p>
            <a:pPr marL="342900" lvl="0" indent="-342900" algn="l">
              <a:lnSpc>
                <a:spcPct val="80000"/>
              </a:lnSpc>
              <a:buFont typeface="Wingdings" pitchFamily="2"/>
              <a:buChar char="q"/>
            </a:pPr>
            <a:r>
              <a:rPr lang="en-US" sz="1600" dirty="0">
                <a:solidFill>
                  <a:srgbClr val="002060"/>
                </a:solidFill>
                <a:latin typeface="Times New Roman" panose="02020603050405020304" pitchFamily="18" charset="0"/>
                <a:cs typeface="Times New Roman" panose="02020603050405020304" pitchFamily="18" charset="0"/>
              </a:rPr>
              <a:t>To use KPI insights to help airlines identify areas where improvements can be made in operations.</a:t>
            </a:r>
          </a:p>
        </p:txBody>
      </p:sp>
    </p:spTree>
    <p:extLst>
      <p:ext uri="{BB962C8B-B14F-4D97-AF65-F5344CB8AC3E}">
        <p14:creationId xmlns:p14="http://schemas.microsoft.com/office/powerpoint/2010/main" val="110163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52FF854-0626-4E73-9ADE-BC42ACDEB3C0}"/>
              </a:ext>
            </a:extLst>
          </p:cNvPr>
          <p:cNvSpPr txBox="1"/>
          <p:nvPr/>
        </p:nvSpPr>
        <p:spPr>
          <a:xfrm>
            <a:off x="170119" y="444734"/>
            <a:ext cx="6794205" cy="344710"/>
          </a:xfrm>
          <a:prstGeom prst="rect">
            <a:avLst/>
          </a:prstGeom>
          <a:noFill/>
        </p:spPr>
        <p:txBody>
          <a:bodyPr wrap="square">
            <a:spAutoFit/>
          </a:bodyPr>
          <a:lstStyle/>
          <a:p>
            <a:pPr lvl="0" algn="just">
              <a:lnSpc>
                <a:spcPct val="80000"/>
              </a:lnSpc>
            </a:pPr>
            <a:r>
              <a:rPr lang="en-US" sz="2000" b="1" dirty="0">
                <a:solidFill>
                  <a:srgbClr val="000000"/>
                </a:solidFill>
                <a:latin typeface="Times New Roman" panose="02020603050405020304" pitchFamily="18" charset="0"/>
                <a:cs typeface="Times New Roman" panose="02020603050405020304" pitchFamily="18" charset="0"/>
              </a:rPr>
              <a:t>Analytical Tools Used: </a:t>
            </a:r>
          </a:p>
        </p:txBody>
      </p:sp>
      <p:pic>
        <p:nvPicPr>
          <p:cNvPr id="18" name="Picture 17">
            <a:extLst>
              <a:ext uri="{FF2B5EF4-FFF2-40B4-BE49-F238E27FC236}">
                <a16:creationId xmlns:a16="http://schemas.microsoft.com/office/drawing/2014/main" id="{7E385869-996A-4B4A-9CA6-90C88BA52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150" y="1079264"/>
            <a:ext cx="1584251" cy="1247935"/>
          </a:xfrm>
          <a:prstGeom prst="rect">
            <a:avLst/>
          </a:prstGeom>
          <a:solidFill>
            <a:schemeClr val="tx1">
              <a:lumMod val="40000"/>
              <a:lumOff val="60000"/>
            </a:schemeClr>
          </a:solidFill>
          <a:ln>
            <a:solidFill>
              <a:srgbClr val="000000"/>
            </a:solidFill>
          </a:ln>
        </p:spPr>
      </p:pic>
      <p:pic>
        <p:nvPicPr>
          <p:cNvPr id="28" name="Picture 27">
            <a:extLst>
              <a:ext uri="{FF2B5EF4-FFF2-40B4-BE49-F238E27FC236}">
                <a16:creationId xmlns:a16="http://schemas.microsoft.com/office/drawing/2014/main" id="{4B145EE2-AA82-4779-A3C9-C12682D1A1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9874" y="1079263"/>
            <a:ext cx="1584251" cy="1247935"/>
          </a:xfrm>
          <a:prstGeom prst="rect">
            <a:avLst/>
          </a:prstGeom>
          <a:ln>
            <a:solidFill>
              <a:srgbClr val="000000"/>
            </a:solidFill>
          </a:ln>
        </p:spPr>
      </p:pic>
      <p:pic>
        <p:nvPicPr>
          <p:cNvPr id="30" name="Picture 29">
            <a:extLst>
              <a:ext uri="{FF2B5EF4-FFF2-40B4-BE49-F238E27FC236}">
                <a16:creationId xmlns:a16="http://schemas.microsoft.com/office/drawing/2014/main" id="{7B5BB7E7-BF06-4F65-8A1F-FE2A4AC921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5149" y="2764222"/>
            <a:ext cx="1584251" cy="1247935"/>
          </a:xfrm>
          <a:prstGeom prst="rect">
            <a:avLst/>
          </a:prstGeom>
          <a:ln>
            <a:solidFill>
              <a:srgbClr val="000000"/>
            </a:solidFill>
          </a:ln>
        </p:spPr>
      </p:pic>
      <p:pic>
        <p:nvPicPr>
          <p:cNvPr id="34" name="Picture 33">
            <a:extLst>
              <a:ext uri="{FF2B5EF4-FFF2-40B4-BE49-F238E27FC236}">
                <a16:creationId xmlns:a16="http://schemas.microsoft.com/office/drawing/2014/main" id="{8D270D86-19A7-4299-AEFD-4663C88EBC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79874" y="2764221"/>
            <a:ext cx="1584251" cy="1247935"/>
          </a:xfrm>
          <a:prstGeom prst="rect">
            <a:avLst/>
          </a:prstGeom>
          <a:ln>
            <a:solidFill>
              <a:srgbClr val="000000"/>
            </a:solidFill>
          </a:ln>
        </p:spPr>
      </p:pic>
      <p:sp>
        <p:nvSpPr>
          <p:cNvPr id="35" name="TextBox 34">
            <a:extLst>
              <a:ext uri="{FF2B5EF4-FFF2-40B4-BE49-F238E27FC236}">
                <a16:creationId xmlns:a16="http://schemas.microsoft.com/office/drawing/2014/main" id="{998DA196-E4C5-43AE-8933-04E1B24170B1}"/>
              </a:ext>
            </a:extLst>
          </p:cNvPr>
          <p:cNvSpPr txBox="1"/>
          <p:nvPr/>
        </p:nvSpPr>
        <p:spPr>
          <a:xfrm>
            <a:off x="440675" y="4410509"/>
            <a:ext cx="6290631" cy="369332"/>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Tools Used: MS Excel, MySQL, Power BI, Tableau</a:t>
            </a:r>
          </a:p>
        </p:txBody>
      </p:sp>
    </p:spTree>
    <p:extLst>
      <p:ext uri="{BB962C8B-B14F-4D97-AF65-F5344CB8AC3E}">
        <p14:creationId xmlns:p14="http://schemas.microsoft.com/office/powerpoint/2010/main" val="3769256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194D5-4E2A-4A11-9304-74D599536CFF}"/>
              </a:ext>
            </a:extLst>
          </p:cNvPr>
          <p:cNvSpPr txBox="1"/>
          <p:nvPr/>
        </p:nvSpPr>
        <p:spPr>
          <a:xfrm>
            <a:off x="2161244" y="2248582"/>
            <a:ext cx="5411973" cy="646331"/>
          </a:xfrm>
          <a:prstGeom prst="rect">
            <a:avLst/>
          </a:prstGeom>
          <a:noFill/>
        </p:spPr>
        <p:txBody>
          <a:bodyPr wrap="square" rtlCol="0">
            <a:spAutoFit/>
          </a:bodyPr>
          <a:lstStyle/>
          <a:p>
            <a:r>
              <a:rPr lang="en-US" sz="3600" b="1" dirty="0">
                <a:solidFill>
                  <a:srgbClr val="002060"/>
                </a:solidFill>
                <a:latin typeface="Times New Roman" panose="02020603050405020304" pitchFamily="18" charset="0"/>
                <a:cs typeface="Times New Roman" panose="02020603050405020304" pitchFamily="18" charset="0"/>
              </a:rPr>
              <a:t>KPI - Insights &amp; Analysis</a:t>
            </a:r>
          </a:p>
        </p:txBody>
      </p:sp>
      <p:pic>
        <p:nvPicPr>
          <p:cNvPr id="8" name="Graphic 7" descr="Airplane with solid fill">
            <a:extLst>
              <a:ext uri="{FF2B5EF4-FFF2-40B4-BE49-F238E27FC236}">
                <a16:creationId xmlns:a16="http://schemas.microsoft.com/office/drawing/2014/main" id="{06484FE5-BF31-4330-8681-4177BC0B1B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579915">
            <a:off x="1631112" y="2162221"/>
            <a:ext cx="656640" cy="819052"/>
          </a:xfrm>
          <a:prstGeom prst="rect">
            <a:avLst/>
          </a:prstGeom>
        </p:spPr>
      </p:pic>
    </p:spTree>
    <p:extLst>
      <p:ext uri="{BB962C8B-B14F-4D97-AF65-F5344CB8AC3E}">
        <p14:creationId xmlns:p14="http://schemas.microsoft.com/office/powerpoint/2010/main" val="4201428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340242" y="572119"/>
            <a:ext cx="5571460" cy="400110"/>
          </a:xfrm>
          <a:prstGeom prst="rect">
            <a:avLst/>
          </a:prstGeom>
          <a:noFill/>
        </p:spPr>
        <p:txBody>
          <a:bodyPr wrap="square" rtlCol="0">
            <a:spAutoFit/>
          </a:bodyPr>
          <a:lstStyle/>
          <a:p>
            <a:r>
              <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rPr>
              <a:t>Load Factor by Year </a:t>
            </a:r>
          </a:p>
        </p:txBody>
      </p:sp>
      <p:sp>
        <p:nvSpPr>
          <p:cNvPr id="18" name="TextBox 17">
            <a:extLst>
              <a:ext uri="{FF2B5EF4-FFF2-40B4-BE49-F238E27FC236}">
                <a16:creationId xmlns:a16="http://schemas.microsoft.com/office/drawing/2014/main" id="{8FEFB5E1-FCC1-415E-B67C-E55C130F1C8F}"/>
              </a:ext>
            </a:extLst>
          </p:cNvPr>
          <p:cNvSpPr txBox="1"/>
          <p:nvPr/>
        </p:nvSpPr>
        <p:spPr>
          <a:xfrm>
            <a:off x="0" y="1495830"/>
            <a:ext cx="9144000" cy="584775"/>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Airlines use load factor for strategic planning, route optimization and fleet management. Load factor is a key metric used for benchmarking an airlines performance against competitors.</a:t>
            </a:r>
          </a:p>
        </p:txBody>
      </p:sp>
      <p:pic>
        <p:nvPicPr>
          <p:cNvPr id="21" name="Picture 7" descr="A graph with numbers and a bar&#10;&#10;AI-generated content may be incorrect.">
            <a:extLst>
              <a:ext uri="{FF2B5EF4-FFF2-40B4-BE49-F238E27FC236}">
                <a16:creationId xmlns:a16="http://schemas.microsoft.com/office/drawing/2014/main" id="{5893D2F2-28EB-4A2A-9F11-BCB8658F945E}"/>
              </a:ext>
            </a:extLst>
          </p:cNvPr>
          <p:cNvPicPr>
            <a:picLocks noChangeAspect="1"/>
          </p:cNvPicPr>
          <p:nvPr/>
        </p:nvPicPr>
        <p:blipFill>
          <a:blip r:embed="rId2"/>
          <a:stretch>
            <a:fillRect/>
          </a:stretch>
        </p:blipFill>
        <p:spPr>
          <a:xfrm>
            <a:off x="1839432" y="2164763"/>
            <a:ext cx="4774019" cy="2162687"/>
          </a:xfrm>
          <a:prstGeom prst="rect">
            <a:avLst/>
          </a:prstGeom>
          <a:noFill/>
          <a:ln cap="flat">
            <a:noFill/>
          </a:ln>
        </p:spPr>
      </p:pic>
      <p:sp>
        <p:nvSpPr>
          <p:cNvPr id="22" name="TextBox 21">
            <a:extLst>
              <a:ext uri="{FF2B5EF4-FFF2-40B4-BE49-F238E27FC236}">
                <a16:creationId xmlns:a16="http://schemas.microsoft.com/office/drawing/2014/main" id="{EA530218-29AC-42C5-A643-5B3F2DBD735D}"/>
              </a:ext>
            </a:extLst>
          </p:cNvPr>
          <p:cNvSpPr txBox="1"/>
          <p:nvPr/>
        </p:nvSpPr>
        <p:spPr>
          <a:xfrm>
            <a:off x="127591" y="4465674"/>
            <a:ext cx="8644269" cy="584775"/>
          </a:xfrm>
          <a:prstGeom prst="rect">
            <a:avLst/>
          </a:prstGeom>
          <a:noFill/>
        </p:spPr>
        <p:txBody>
          <a:bodyPr wrap="square" rtlCol="0">
            <a:spAutoFit/>
          </a:bodyPr>
          <a:lstStyle/>
          <a:p>
            <a:pPr marL="285750" marR="0" lvl="0" indent="-285750" algn="l" defTabSz="914400" rtl="0" fontAlgn="auto" hangingPunct="1">
              <a:lnSpc>
                <a:spcPct val="100000"/>
              </a:lnSpc>
              <a:spcBef>
                <a:spcPts val="0"/>
              </a:spcBef>
              <a:spcAft>
                <a:spcPts val="0"/>
              </a:spcAft>
              <a:buFont typeface="Wingdings" panose="05000000000000000000" pitchFamily="2" charset="2"/>
              <a:buChar char="q"/>
              <a:tabLst/>
              <a:defRPr sz="1800" b="0" i="0" u="none" strike="noStrike" kern="0" cap="none" spc="0" baseline="0">
                <a:solidFill>
                  <a:srgbClr val="000000"/>
                </a:solidFill>
                <a:uFillTx/>
              </a:defRPr>
            </a:pP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As per the analysis </a:t>
            </a: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2011 </a:t>
            </a: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and </a:t>
            </a: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2013 </a:t>
            </a: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have the highest load factors of </a:t>
            </a: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17.4%</a:t>
            </a: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 and </a:t>
            </a: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2009</a:t>
            </a: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 has the lowest load factor of </a:t>
            </a:r>
            <a:r>
              <a:rPr lang="en-US" sz="1600" b="1"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15.66%</a:t>
            </a:r>
            <a:r>
              <a:rPr lang="en-US" sz="1600" b="0" i="0" u="none" strike="noStrike" kern="1200" cap="none" spc="0" baseline="0" dirty="0">
                <a:solidFill>
                  <a:srgbClr val="002060"/>
                </a:solidFill>
                <a:uFillTx/>
                <a:latin typeface="Times New Roman" panose="02020603050405020304" pitchFamily="18" charset="0"/>
                <a:cs typeface="Times New Roman" panose="02020603050405020304" pitchFamily="18" charset="0"/>
              </a:rPr>
              <a:t> which shows gradual improvement in average load factor from 2008 to 2013.</a:t>
            </a:r>
          </a:p>
        </p:txBody>
      </p:sp>
    </p:spTree>
    <p:extLst>
      <p:ext uri="{BB962C8B-B14F-4D97-AF65-F5344CB8AC3E}">
        <p14:creationId xmlns:p14="http://schemas.microsoft.com/office/powerpoint/2010/main" val="4170783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372140" y="574158"/>
            <a:ext cx="5571460" cy="400110"/>
          </a:xfrm>
          <a:prstGeom prst="rect">
            <a:avLst/>
          </a:prstGeom>
          <a:noFill/>
        </p:spPr>
        <p:txBody>
          <a:bodyPr wrap="square" rtlCol="0">
            <a:spAutoFit/>
          </a:bodyPr>
          <a:lstStyle/>
          <a:p>
            <a:r>
              <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rPr>
              <a:t>Load Factor by </a:t>
            </a:r>
            <a:r>
              <a:rPr lang="en-US" sz="2000" b="1" dirty="0">
                <a:solidFill>
                  <a:schemeClr val="bg1"/>
                </a:solidFill>
                <a:latin typeface="Times New Roman" panose="02020603050405020304" pitchFamily="18" charset="0"/>
                <a:cs typeface="Times New Roman" panose="02020603050405020304" pitchFamily="18" charset="0"/>
              </a:rPr>
              <a:t>Carrier Name</a:t>
            </a:r>
            <a:endPar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endParaRPr>
          </a:p>
        </p:txBody>
      </p:sp>
      <p:pic>
        <p:nvPicPr>
          <p:cNvPr id="6" name="Picture 9" descr="A graph with numbers and text&#10;&#10;AI-generated content may be incorrect.">
            <a:extLst>
              <a:ext uri="{FF2B5EF4-FFF2-40B4-BE49-F238E27FC236}">
                <a16:creationId xmlns:a16="http://schemas.microsoft.com/office/drawing/2014/main" id="{03183B0A-F208-417D-93AE-FEF61A53DCBD}"/>
              </a:ext>
            </a:extLst>
          </p:cNvPr>
          <p:cNvPicPr>
            <a:picLocks noChangeAspect="1"/>
          </p:cNvPicPr>
          <p:nvPr/>
        </p:nvPicPr>
        <p:blipFill>
          <a:blip r:embed="rId2"/>
          <a:stretch>
            <a:fillRect/>
          </a:stretch>
        </p:blipFill>
        <p:spPr>
          <a:xfrm>
            <a:off x="489098" y="1467178"/>
            <a:ext cx="4444408" cy="2583826"/>
          </a:xfrm>
          <a:prstGeom prst="rect">
            <a:avLst/>
          </a:prstGeom>
          <a:noFill/>
          <a:ln cap="flat">
            <a:noFill/>
          </a:ln>
        </p:spPr>
      </p:pic>
      <p:pic>
        <p:nvPicPr>
          <p:cNvPr id="7" name="Picture 5" descr="A diagram of a flight&#10;&#10;AI-generated content may be incorrect.">
            <a:extLst>
              <a:ext uri="{FF2B5EF4-FFF2-40B4-BE49-F238E27FC236}">
                <a16:creationId xmlns:a16="http://schemas.microsoft.com/office/drawing/2014/main" id="{1BBE17F5-7329-4398-9955-CCB54355F7A4}"/>
              </a:ext>
            </a:extLst>
          </p:cNvPr>
          <p:cNvPicPr>
            <a:picLocks noChangeAspect="1"/>
          </p:cNvPicPr>
          <p:nvPr/>
        </p:nvPicPr>
        <p:blipFill>
          <a:blip r:embed="rId3"/>
          <a:stretch>
            <a:fillRect/>
          </a:stretch>
        </p:blipFill>
        <p:spPr>
          <a:xfrm>
            <a:off x="5361124" y="1467178"/>
            <a:ext cx="3602122" cy="2583826"/>
          </a:xfrm>
          <a:prstGeom prst="rect">
            <a:avLst/>
          </a:prstGeom>
          <a:solidFill>
            <a:srgbClr val="000000"/>
          </a:solidFill>
          <a:ln w="19050" cap="flat">
            <a:solidFill>
              <a:srgbClr val="000000"/>
            </a:solidFill>
          </a:ln>
        </p:spPr>
      </p:pic>
      <p:sp>
        <p:nvSpPr>
          <p:cNvPr id="8" name="TextBox 7">
            <a:extLst>
              <a:ext uri="{FF2B5EF4-FFF2-40B4-BE49-F238E27FC236}">
                <a16:creationId xmlns:a16="http://schemas.microsoft.com/office/drawing/2014/main" id="{9350A63A-230F-481E-9147-CDC44CDBC46D}"/>
              </a:ext>
            </a:extLst>
          </p:cNvPr>
          <p:cNvSpPr txBox="1"/>
          <p:nvPr/>
        </p:nvSpPr>
        <p:spPr>
          <a:xfrm>
            <a:off x="159488" y="4378800"/>
            <a:ext cx="8644269" cy="338554"/>
          </a:xfrm>
          <a:prstGeom prst="rect">
            <a:avLst/>
          </a:prstGeom>
          <a:noFill/>
        </p:spPr>
        <p:txBody>
          <a:bodyPr wrap="square" rtlCol="0">
            <a:spAutoFit/>
          </a:bodyPr>
          <a:lstStyle/>
          <a:p>
            <a:pPr marL="285750" indent="-285750">
              <a:buFont typeface="Wingdings" panose="05000000000000000000" pitchFamily="2" charset="2"/>
              <a:buChar char="q"/>
              <a:defRPr sz="1800" b="0" i="0" u="none" strike="noStrike" kern="0" cap="none" spc="0" baseline="0">
                <a:solidFill>
                  <a:srgbClr val="000000"/>
                </a:solidFill>
                <a:uFillTx/>
              </a:defRPr>
            </a:pPr>
            <a:r>
              <a:rPr lang="en-US" sz="1600" b="1" i="0" u="none" strike="noStrike" kern="0" cap="none" spc="0" baseline="0" dirty="0">
                <a:solidFill>
                  <a:srgbClr val="002060"/>
                </a:solidFill>
                <a:uFillTx/>
                <a:latin typeface="Times New Roman" panose="02020603050405020304" pitchFamily="18" charset="0"/>
                <a:cs typeface="Times New Roman" panose="02020603050405020304" pitchFamily="18" charset="0"/>
              </a:rPr>
              <a:t>Delta Airlines </a:t>
            </a:r>
            <a:r>
              <a:rPr lang="en-US" sz="1600" b="0" i="0" u="none" strike="noStrike" kern="0" cap="none" spc="0" baseline="0" dirty="0">
                <a:solidFill>
                  <a:srgbClr val="002060"/>
                </a:solidFill>
                <a:uFillTx/>
                <a:latin typeface="Times New Roman" panose="02020603050405020304" pitchFamily="18" charset="0"/>
                <a:cs typeface="Times New Roman" panose="02020603050405020304" pitchFamily="18" charset="0"/>
              </a:rPr>
              <a:t>has the highest load factor of 19.6% with 28837271  transported passengers.</a:t>
            </a:r>
          </a:p>
        </p:txBody>
      </p:sp>
    </p:spTree>
    <p:extLst>
      <p:ext uri="{BB962C8B-B14F-4D97-AF65-F5344CB8AC3E}">
        <p14:creationId xmlns:p14="http://schemas.microsoft.com/office/powerpoint/2010/main" val="2459211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265814" y="637953"/>
            <a:ext cx="557146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Carrier Names based on Passengers Preference</a:t>
            </a:r>
            <a:endPar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endParaRPr>
          </a:p>
        </p:txBody>
      </p:sp>
      <p:pic>
        <p:nvPicPr>
          <p:cNvPr id="9" name="Content Placeholder 4">
            <a:extLst>
              <a:ext uri="{FF2B5EF4-FFF2-40B4-BE49-F238E27FC236}">
                <a16:creationId xmlns:a16="http://schemas.microsoft.com/office/drawing/2014/main" id="{19ADE586-D3E2-4BA8-9EC7-2EEFC5816F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814" y="1581988"/>
            <a:ext cx="3965944" cy="3277091"/>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
        <p:nvSpPr>
          <p:cNvPr id="2" name="TextBox 1">
            <a:extLst>
              <a:ext uri="{FF2B5EF4-FFF2-40B4-BE49-F238E27FC236}">
                <a16:creationId xmlns:a16="http://schemas.microsoft.com/office/drawing/2014/main" id="{3F2F8E9A-7E7C-466A-A403-80643E5ED7E9}"/>
              </a:ext>
            </a:extLst>
          </p:cNvPr>
          <p:cNvSpPr txBox="1"/>
          <p:nvPr/>
        </p:nvSpPr>
        <p:spPr>
          <a:xfrm>
            <a:off x="4316818" y="1581988"/>
            <a:ext cx="4901610" cy="4130361"/>
          </a:xfrm>
          <a:prstGeom prst="rect">
            <a:avLst/>
          </a:prstGeom>
          <a:noFill/>
        </p:spPr>
        <p:txBody>
          <a:bodyPr wrap="square" rtlCol="0">
            <a:spAutoFit/>
          </a:bodyPr>
          <a:lstStyle/>
          <a:p>
            <a:pPr marL="285750" indent="-285750">
              <a:lnSpc>
                <a:spcPct val="110000"/>
              </a:lnSpc>
              <a:buFont typeface="Wingdings" panose="05000000000000000000" pitchFamily="2" charset="2"/>
              <a:buChar char="§"/>
            </a:pPr>
            <a:r>
              <a:rPr kumimoji="0" lang="en-US" altLang="en-US" sz="16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Southwest Airlines</a:t>
            </a:r>
            <a:r>
              <a:rPr kumimoji="0" lang="en-US" altLang="en-US" sz="1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is the most preferred carrier with </a:t>
            </a:r>
            <a:r>
              <a:rPr kumimoji="0" lang="en-US" altLang="en-US" sz="1600" b="1"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34.1 million</a:t>
            </a:r>
            <a:r>
              <a:rPr kumimoji="0" lang="en-US" altLang="en-US" sz="1600" b="0" i="0" u="none" strike="noStrike" cap="none" normalizeH="0" baseline="0" dirty="0">
                <a:ln>
                  <a:noFill/>
                </a:ln>
                <a:solidFill>
                  <a:srgbClr val="002060"/>
                </a:solidFill>
                <a:effectLst/>
                <a:latin typeface="Times New Roman" panose="02020603050405020304" pitchFamily="18" charset="0"/>
                <a:cs typeface="Times New Roman" panose="02020603050405020304" pitchFamily="18" charset="0"/>
              </a:rPr>
              <a:t> passengers.</a:t>
            </a:r>
          </a:p>
          <a:p>
            <a:pPr marL="285750" indent="-285750">
              <a:lnSpc>
                <a:spcPct val="110000"/>
              </a:lnSpc>
              <a:buFont typeface="Wingdings" panose="05000000000000000000" pitchFamily="2" charset="2"/>
              <a:buChar char="§"/>
            </a:pPr>
            <a:r>
              <a:rPr lang="en-US" altLang="en-US" sz="1600" b="1" dirty="0">
                <a:solidFill>
                  <a:srgbClr val="002060"/>
                </a:solidFill>
                <a:latin typeface="Times New Roman" panose="02020603050405020304" pitchFamily="18" charset="0"/>
                <a:cs typeface="Times New Roman" panose="02020603050405020304" pitchFamily="18" charset="0"/>
              </a:rPr>
              <a:t>Delta Air Lines</a:t>
            </a:r>
            <a:r>
              <a:rPr lang="en-US" altLang="en-US" sz="1600" dirty="0">
                <a:solidFill>
                  <a:srgbClr val="002060"/>
                </a:solidFill>
                <a:latin typeface="Times New Roman" panose="02020603050405020304" pitchFamily="18" charset="0"/>
                <a:cs typeface="Times New Roman" panose="02020603050405020304" pitchFamily="18" charset="0"/>
              </a:rPr>
              <a:t> follows closely with </a:t>
            </a:r>
            <a:r>
              <a:rPr lang="en-US" altLang="en-US" sz="1600" b="1" dirty="0">
                <a:solidFill>
                  <a:srgbClr val="002060"/>
                </a:solidFill>
                <a:latin typeface="Times New Roman" panose="02020603050405020304" pitchFamily="18" charset="0"/>
                <a:cs typeface="Times New Roman" panose="02020603050405020304" pitchFamily="18" charset="0"/>
              </a:rPr>
              <a:t>28.8 million</a:t>
            </a:r>
            <a:r>
              <a:rPr lang="en-US" altLang="en-US" sz="1600" dirty="0">
                <a:solidFill>
                  <a:srgbClr val="002060"/>
                </a:solidFill>
                <a:latin typeface="Times New Roman" panose="02020603050405020304" pitchFamily="18" charset="0"/>
                <a:cs typeface="Times New Roman" panose="02020603050405020304" pitchFamily="18" charset="0"/>
              </a:rPr>
              <a:t> passengers</a:t>
            </a:r>
          </a:p>
          <a:p>
            <a:pPr marL="285750" indent="-285750">
              <a:lnSpc>
                <a:spcPct val="110000"/>
              </a:lnSpc>
              <a:buFont typeface="Wingdings" panose="05000000000000000000" pitchFamily="2" charset="2"/>
              <a:buChar char="§"/>
            </a:pPr>
            <a:r>
              <a:rPr lang="en-US" altLang="en-US" sz="1600" dirty="0">
                <a:solidFill>
                  <a:srgbClr val="002060"/>
                </a:solidFill>
                <a:latin typeface="Times New Roman" panose="02020603050405020304" pitchFamily="18" charset="0"/>
                <a:cs typeface="Times New Roman" panose="02020603050405020304" pitchFamily="18" charset="0"/>
              </a:rPr>
              <a:t>Smaller regional airlines like </a:t>
            </a:r>
            <a:r>
              <a:rPr lang="en-US" altLang="en-US" sz="1600" b="1" dirty="0">
                <a:solidFill>
                  <a:srgbClr val="002060"/>
                </a:solidFill>
                <a:latin typeface="Times New Roman" panose="02020603050405020304" pitchFamily="18" charset="0"/>
                <a:cs typeface="Times New Roman" panose="02020603050405020304" pitchFamily="18" charset="0"/>
              </a:rPr>
              <a:t>American Eagle</a:t>
            </a:r>
            <a:r>
              <a:rPr lang="en-US" altLang="en-US" sz="1600" dirty="0">
                <a:solidFill>
                  <a:srgbClr val="002060"/>
                </a:solidFill>
                <a:latin typeface="Times New Roman" panose="02020603050405020304" pitchFamily="18" charset="0"/>
                <a:cs typeface="Times New Roman" panose="02020603050405020304" pitchFamily="18" charset="0"/>
              </a:rPr>
              <a:t> and </a:t>
            </a:r>
            <a:r>
              <a:rPr lang="en-US" altLang="en-US" sz="1600" b="1" dirty="0">
                <a:solidFill>
                  <a:srgbClr val="002060"/>
                </a:solidFill>
                <a:latin typeface="Times New Roman" panose="02020603050405020304" pitchFamily="18" charset="0"/>
                <a:cs typeface="Times New Roman" panose="02020603050405020304" pitchFamily="18" charset="0"/>
              </a:rPr>
              <a:t>Alaska Airlines</a:t>
            </a:r>
            <a:r>
              <a:rPr lang="en-US" altLang="en-US" sz="1600" dirty="0">
                <a:solidFill>
                  <a:srgbClr val="002060"/>
                </a:solidFill>
                <a:latin typeface="Times New Roman" panose="02020603050405020304" pitchFamily="18" charset="0"/>
                <a:cs typeface="Times New Roman" panose="02020603050405020304" pitchFamily="18" charset="0"/>
              </a:rPr>
              <a:t> have lower passenger numbers, under 5.1 million.</a:t>
            </a:r>
          </a:p>
          <a:p>
            <a:pPr marL="285750" indent="-285750">
              <a:lnSpc>
                <a:spcPct val="110000"/>
              </a:lnSpc>
              <a:buFont typeface="Wingdings" panose="05000000000000000000" pitchFamily="2" charset="2"/>
              <a:buChar char="§"/>
            </a:pPr>
            <a:r>
              <a:rPr lang="en-US" altLang="en-US" sz="1600" dirty="0">
                <a:solidFill>
                  <a:srgbClr val="002060"/>
                </a:solidFill>
                <a:latin typeface="Times New Roman" panose="02020603050405020304" pitchFamily="18" charset="0"/>
                <a:cs typeface="Times New Roman" panose="02020603050405020304" pitchFamily="18" charset="0"/>
              </a:rPr>
              <a:t>Identifying market leaders in the airline industry.</a:t>
            </a:r>
          </a:p>
          <a:p>
            <a:pPr marL="285750" indent="-285750">
              <a:lnSpc>
                <a:spcPct val="110000"/>
              </a:lnSpc>
              <a:buFont typeface="Wingdings" panose="05000000000000000000" pitchFamily="2" charset="2"/>
              <a:buChar char="§"/>
            </a:pPr>
            <a:r>
              <a:rPr lang="en-US" altLang="en-US" sz="1600" dirty="0">
                <a:solidFill>
                  <a:srgbClr val="002060"/>
                </a:solidFill>
                <a:latin typeface="Times New Roman" panose="02020603050405020304" pitchFamily="18" charset="0"/>
                <a:cs typeface="Times New Roman" panose="02020603050405020304" pitchFamily="18" charset="0"/>
              </a:rPr>
              <a:t>Understanding customer preference and airline popularity.</a:t>
            </a:r>
          </a:p>
          <a:p>
            <a:pPr marL="285750" indent="-285750">
              <a:lnSpc>
                <a:spcPct val="110000"/>
              </a:lnSpc>
              <a:buFont typeface="Wingdings" panose="05000000000000000000" pitchFamily="2" charset="2"/>
              <a:buChar char="§"/>
            </a:pPr>
            <a:r>
              <a:rPr lang="en-US" altLang="en-US" sz="1600" dirty="0">
                <a:solidFill>
                  <a:srgbClr val="002060"/>
                </a:solidFill>
                <a:latin typeface="Times New Roman" panose="02020603050405020304" pitchFamily="18" charset="0"/>
                <a:cs typeface="Times New Roman" panose="02020603050405020304" pitchFamily="18" charset="0"/>
              </a:rPr>
              <a:t>Making decisions related to partnerships, advertising, or expansion based on carrier popularity.</a:t>
            </a:r>
          </a:p>
          <a:p>
            <a:pPr marL="285750" indent="-285750">
              <a:lnSpc>
                <a:spcPct val="110000"/>
              </a:lnSpc>
              <a:buFont typeface="Wingdings" panose="05000000000000000000" pitchFamily="2" charset="2"/>
              <a:buChar char="§"/>
            </a:pPr>
            <a:endParaRPr lang="en-US" altLang="en-US" sz="1600" dirty="0">
              <a:solidFill>
                <a:srgbClr val="002060"/>
              </a:solidFill>
              <a:latin typeface="Times New Roman" panose="02020603050405020304" pitchFamily="18" charset="0"/>
              <a:cs typeface="Times New Roman" panose="02020603050405020304" pitchFamily="18" charset="0"/>
            </a:endParaRPr>
          </a:p>
          <a:p>
            <a:pPr marL="285750" indent="-285750">
              <a:lnSpc>
                <a:spcPct val="110000"/>
              </a:lnSpc>
              <a:buFont typeface="Wingdings" panose="05000000000000000000" pitchFamily="2" charset="2"/>
              <a:buChar char="§"/>
            </a:pPr>
            <a:endParaRPr lang="en-US" altLang="en-US" sz="1600" dirty="0">
              <a:solidFill>
                <a:srgbClr val="002060"/>
              </a:solidFill>
              <a:latin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576357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265814" y="637953"/>
            <a:ext cx="5571460" cy="400110"/>
          </a:xfrm>
          <a:prstGeom prst="rect">
            <a:avLst/>
          </a:prstGeom>
          <a:noFill/>
        </p:spPr>
        <p:txBody>
          <a:bodyPr wrap="square" rtlCol="0">
            <a:spAutoFit/>
          </a:bodyPr>
          <a:lstStyle/>
          <a:p>
            <a:r>
              <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rPr>
              <a:t>Top Routes based on Number of Flight</a:t>
            </a:r>
          </a:p>
        </p:txBody>
      </p:sp>
      <p:sp>
        <p:nvSpPr>
          <p:cNvPr id="2" name="TextBox 1">
            <a:extLst>
              <a:ext uri="{FF2B5EF4-FFF2-40B4-BE49-F238E27FC236}">
                <a16:creationId xmlns:a16="http://schemas.microsoft.com/office/drawing/2014/main" id="{3F2F8E9A-7E7C-466A-A403-80643E5ED7E9}"/>
              </a:ext>
            </a:extLst>
          </p:cNvPr>
          <p:cNvSpPr txBox="1"/>
          <p:nvPr/>
        </p:nvSpPr>
        <p:spPr>
          <a:xfrm>
            <a:off x="0" y="1395154"/>
            <a:ext cx="8878186" cy="614399"/>
          </a:xfrm>
          <a:prstGeom prst="rect">
            <a:avLst/>
          </a:prstGeom>
          <a:noFill/>
        </p:spPr>
        <p:txBody>
          <a:bodyPr wrap="square" rtlCol="0">
            <a:spAutoFit/>
          </a:bodyPr>
          <a:lstStyle/>
          <a:p>
            <a:pPr marL="285750" indent="-285750">
              <a:lnSpc>
                <a:spcPct val="110000"/>
              </a:lnSpc>
              <a:buFont typeface="Wingdings" panose="05000000000000000000" pitchFamily="2" charset="2"/>
              <a:buChar char="§"/>
            </a:pPr>
            <a:r>
              <a:rPr lang="en-US" sz="1600" dirty="0">
                <a:solidFill>
                  <a:srgbClr val="002060"/>
                </a:solidFill>
                <a:latin typeface="Times New Roman" panose="02020603050405020304" pitchFamily="18" charset="0"/>
                <a:cs typeface="Times New Roman" panose="02020603050405020304" pitchFamily="18" charset="0"/>
              </a:rPr>
              <a:t>The chart illustrates the most frequently traveled flight routes, based on airline ID counts, filtered by Year, Quarter, and Month. The top route is from Chicago, IL to Detroit, MI with 95 recorded flights.</a:t>
            </a:r>
          </a:p>
        </p:txBody>
      </p:sp>
      <p:sp>
        <p:nvSpPr>
          <p:cNvPr id="3" name="TextBox 2">
            <a:extLst>
              <a:ext uri="{FF2B5EF4-FFF2-40B4-BE49-F238E27FC236}">
                <a16:creationId xmlns:a16="http://schemas.microsoft.com/office/drawing/2014/main" id="{A5A1920A-06BB-4BC2-8E15-0B7ADF86CC79}"/>
              </a:ext>
            </a:extLst>
          </p:cNvPr>
          <p:cNvSpPr txBox="1"/>
          <p:nvPr/>
        </p:nvSpPr>
        <p:spPr>
          <a:xfrm>
            <a:off x="4439093" y="2041450"/>
            <a:ext cx="457200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Major hubs like Chicago, Atlanta, and Washington, DC appear multiple times as origin or destination cities, highlighting their importance in the air travel network. This analysis is useful for understanding traffic patterns and optimizing airline operations.</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Chicago, IL and Atlanta, GA appear frequently as origin or destination.</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Routes between major hubs (e.g., DC ↔ NY, Chicago ↔ Detroit) dominate.</a:t>
            </a:r>
          </a:p>
          <a:p>
            <a:pPr marL="285750" indent="-285750">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This data helps prioritize high-traffic corridors for operational planning or service improvement.</a:t>
            </a:r>
          </a:p>
          <a:p>
            <a:endParaRPr lang="en-AU" sz="1400" dirty="0">
              <a:solidFill>
                <a:srgbClr val="00206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p>
        </p:txBody>
      </p:sp>
      <p:pic>
        <p:nvPicPr>
          <p:cNvPr id="5" name="Picture 4">
            <a:extLst>
              <a:ext uri="{FF2B5EF4-FFF2-40B4-BE49-F238E27FC236}">
                <a16:creationId xmlns:a16="http://schemas.microsoft.com/office/drawing/2014/main" id="{CE5F3256-16F4-419C-A1F4-CD5C93CA1EA3}"/>
              </a:ext>
            </a:extLst>
          </p:cNvPr>
          <p:cNvPicPr>
            <a:picLocks noChangeAspect="1"/>
          </p:cNvPicPr>
          <p:nvPr/>
        </p:nvPicPr>
        <p:blipFill>
          <a:blip r:embed="rId2"/>
          <a:stretch>
            <a:fillRect/>
          </a:stretch>
        </p:blipFill>
        <p:spPr>
          <a:xfrm>
            <a:off x="132907" y="2158409"/>
            <a:ext cx="4226441" cy="2796363"/>
          </a:xfrm>
          <a:prstGeom prst="rect">
            <a:avLst/>
          </a:prstGeom>
          <a:ln w="19050">
            <a:solidFill>
              <a:srgbClr val="000000"/>
            </a:solidFill>
          </a:ln>
        </p:spPr>
      </p:pic>
    </p:spTree>
    <p:extLst>
      <p:ext uri="{BB962C8B-B14F-4D97-AF65-F5344CB8AC3E}">
        <p14:creationId xmlns:p14="http://schemas.microsoft.com/office/powerpoint/2010/main" val="3806434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300556" y="627320"/>
            <a:ext cx="5571460" cy="400110"/>
          </a:xfrm>
          <a:prstGeom prst="rect">
            <a:avLst/>
          </a:prstGeom>
          <a:noFill/>
        </p:spPr>
        <p:txBody>
          <a:bodyPr wrap="square" rtlCol="0">
            <a:spAutoFit/>
          </a:bodyPr>
          <a:lstStyle/>
          <a:p>
            <a:r>
              <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rPr>
              <a:t>Weekdays </a:t>
            </a:r>
            <a:r>
              <a:rPr lang="en-US" sz="2000" b="1" dirty="0">
                <a:solidFill>
                  <a:schemeClr val="bg1"/>
                </a:solidFill>
                <a:latin typeface="Times New Roman" panose="02020603050405020304" pitchFamily="18" charset="0"/>
                <a:cs typeface="Times New Roman" panose="02020603050405020304" pitchFamily="18" charset="0"/>
              </a:rPr>
              <a:t>VS Weekends Load Factor</a:t>
            </a:r>
            <a:endPar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C188F4EE-8026-4F0C-AF94-80D7EC812455}"/>
              </a:ext>
            </a:extLst>
          </p:cNvPr>
          <p:cNvGraphicFramePr>
            <a:graphicFrameLocks/>
          </p:cNvGraphicFramePr>
          <p:nvPr>
            <p:extLst>
              <p:ext uri="{D42A27DB-BD31-4B8C-83A1-F6EECF244321}">
                <p14:modId xmlns:p14="http://schemas.microsoft.com/office/powerpoint/2010/main" val="4107096178"/>
              </p:ext>
            </p:extLst>
          </p:nvPr>
        </p:nvGraphicFramePr>
        <p:xfrm>
          <a:off x="300556" y="1467291"/>
          <a:ext cx="3920570" cy="242422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Diagram 7">
            <a:extLst>
              <a:ext uri="{FF2B5EF4-FFF2-40B4-BE49-F238E27FC236}">
                <a16:creationId xmlns:a16="http://schemas.microsoft.com/office/drawing/2014/main" id="{FCBF516D-BBAE-4AB3-BD09-D162DE2FE449}"/>
              </a:ext>
            </a:extLst>
          </p:cNvPr>
          <p:cNvGraphicFramePr/>
          <p:nvPr>
            <p:extLst>
              <p:ext uri="{D42A27DB-BD31-4B8C-83A1-F6EECF244321}">
                <p14:modId xmlns:p14="http://schemas.microsoft.com/office/powerpoint/2010/main" val="3039199740"/>
              </p:ext>
            </p:extLst>
          </p:nvPr>
        </p:nvGraphicFramePr>
        <p:xfrm>
          <a:off x="4354502" y="1467290"/>
          <a:ext cx="1876178" cy="2424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Oval 9">
            <a:extLst>
              <a:ext uri="{FF2B5EF4-FFF2-40B4-BE49-F238E27FC236}">
                <a16:creationId xmlns:a16="http://schemas.microsoft.com/office/drawing/2014/main" id="{57C85B31-1C28-47D8-9D60-30DC4E6FB19F}"/>
              </a:ext>
            </a:extLst>
          </p:cNvPr>
          <p:cNvSpPr/>
          <p:nvPr/>
        </p:nvSpPr>
        <p:spPr>
          <a:xfrm>
            <a:off x="6230680" y="1467290"/>
            <a:ext cx="2073348" cy="110445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2"/>
                </a:solidFill>
                <a:latin typeface="Times New Roman" panose="02020603050405020304" pitchFamily="18" charset="0"/>
                <a:ea typeface="ADLaM Display" panose="02010000000000000000" pitchFamily="2" charset="0"/>
                <a:cs typeface="Times New Roman" panose="02020603050405020304" pitchFamily="18" charset="0"/>
              </a:rPr>
              <a:t>Weekdays Load Factor Occupied from 2008 to 2013 is 71.18%</a:t>
            </a:r>
          </a:p>
        </p:txBody>
      </p:sp>
      <p:sp>
        <p:nvSpPr>
          <p:cNvPr id="11" name="Oval 10">
            <a:extLst>
              <a:ext uri="{FF2B5EF4-FFF2-40B4-BE49-F238E27FC236}">
                <a16:creationId xmlns:a16="http://schemas.microsoft.com/office/drawing/2014/main" id="{02726042-368E-45BA-96FD-1E95A41CD1DE}"/>
              </a:ext>
            </a:extLst>
          </p:cNvPr>
          <p:cNvSpPr/>
          <p:nvPr/>
        </p:nvSpPr>
        <p:spPr>
          <a:xfrm>
            <a:off x="6230680" y="2679402"/>
            <a:ext cx="2073348" cy="1212113"/>
          </a:xfrm>
          <a:prstGeom prst="ellipse">
            <a:avLst/>
          </a:prstGeom>
          <a:solidFill>
            <a:schemeClr val="accent6"/>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b="1" dirty="0">
              <a:solidFill>
                <a:schemeClr val="bg2"/>
              </a:solidFill>
              <a:latin typeface="Calibri" panose="020F0502020204030204" pitchFamily="34" charset="0"/>
              <a:ea typeface="ADLaM Display" panose="02010000000000000000" pitchFamily="2" charset="0"/>
              <a:cs typeface="Calibri" panose="020F0502020204030204" pitchFamily="34" charset="0"/>
            </a:endParaRPr>
          </a:p>
          <a:p>
            <a:pPr algn="ctr"/>
            <a:r>
              <a:rPr lang="en-US" sz="1400" b="1" dirty="0">
                <a:solidFill>
                  <a:schemeClr val="bg2"/>
                </a:solidFill>
                <a:latin typeface="Times New Roman" panose="02020603050405020304" pitchFamily="18" charset="0"/>
                <a:ea typeface="ADLaM Display" panose="02010000000000000000" pitchFamily="2" charset="0"/>
                <a:cs typeface="Times New Roman" panose="02020603050405020304" pitchFamily="18" charset="0"/>
              </a:rPr>
              <a:t>Weekends Load Factor Occupied from 2008 to 2013 is 28.82%</a:t>
            </a:r>
          </a:p>
          <a:p>
            <a:pPr algn="ctr"/>
            <a:endParaRPr lang="en-US" dirty="0"/>
          </a:p>
        </p:txBody>
      </p:sp>
      <p:sp>
        <p:nvSpPr>
          <p:cNvPr id="2" name="TextBox 1">
            <a:extLst>
              <a:ext uri="{FF2B5EF4-FFF2-40B4-BE49-F238E27FC236}">
                <a16:creationId xmlns:a16="http://schemas.microsoft.com/office/drawing/2014/main" id="{D1925A7C-7D53-4ADA-97A4-C46D9B62D341}"/>
              </a:ext>
            </a:extLst>
          </p:cNvPr>
          <p:cNvSpPr txBox="1"/>
          <p:nvPr/>
        </p:nvSpPr>
        <p:spPr>
          <a:xfrm>
            <a:off x="300556" y="4167963"/>
            <a:ext cx="8503202" cy="1077218"/>
          </a:xfrm>
          <a:prstGeom prst="rect">
            <a:avLst/>
          </a:prstGeom>
          <a:noFill/>
        </p:spPr>
        <p:txBody>
          <a:bodyPr wrap="square" rtlCol="0">
            <a:spAutoFit/>
          </a:bodyPr>
          <a:lstStyle/>
          <a:p>
            <a:pPr marL="285750" indent="-285750">
              <a:buFont typeface="Arial" panose="020B0604020202020204" pitchFamily="34" charset="0"/>
              <a:buChar char="•"/>
            </a:pPr>
            <a:r>
              <a:rPr lang="en-US" altLang="en-US" sz="1600" dirty="0">
                <a:solidFill>
                  <a:srgbClr val="002060"/>
                </a:solidFill>
                <a:latin typeface="Times New Roman" panose="02020603050405020304" pitchFamily="18" charset="0"/>
                <a:ea typeface="ADLaM Display" panose="02010000000000000000" pitchFamily="2" charset="0"/>
                <a:cs typeface="Times New Roman" panose="02020603050405020304" pitchFamily="18" charset="0"/>
              </a:rPr>
              <a:t>W</a:t>
            </a:r>
            <a:r>
              <a:rPr kumimoji="0" lang="en-US" altLang="en-US" sz="1600" b="0" i="0" u="none" strike="noStrike" cap="none" normalizeH="0" baseline="0" dirty="0">
                <a:ln>
                  <a:noFill/>
                </a:ln>
                <a:solidFill>
                  <a:srgbClr val="002060"/>
                </a:solidFill>
                <a:effectLst/>
                <a:latin typeface="Times New Roman" panose="02020603050405020304" pitchFamily="18" charset="0"/>
                <a:ea typeface="ADLaM Display" panose="02010000000000000000" pitchFamily="2" charset="0"/>
                <a:cs typeface="Times New Roman" panose="02020603050405020304" pitchFamily="18" charset="0"/>
              </a:rPr>
              <a:t>eekday airline load factors are higher than weekend load factor</a:t>
            </a:r>
            <a:endParaRPr kumimoji="0" lang="en-US" altLang="en-US" sz="800" b="0" i="0" u="none" strike="noStrike" cap="none" normalizeH="0" baseline="0" dirty="0">
              <a:ln>
                <a:noFill/>
              </a:ln>
              <a:solidFill>
                <a:srgbClr val="002060"/>
              </a:solidFill>
              <a:effectLst/>
              <a:latin typeface="Times New Roman" panose="02020603050405020304" pitchFamily="18" charset="0"/>
              <a:ea typeface="ADLaM Display" panose="02010000000000000000" pitchFamily="2" charset="0"/>
              <a:cs typeface="Times New Roman" panose="02020603050405020304" pitchFamily="18" charset="0"/>
            </a:endParaRPr>
          </a:p>
          <a:p>
            <a:pPr marL="285750" indent="-285750">
              <a:buFont typeface="Arial" panose="020B0604020202020204" pitchFamily="34" charset="0"/>
              <a:buChar char="•"/>
            </a:pPr>
            <a:r>
              <a:rPr kumimoji="0" lang="en-US" altLang="en-US" sz="1600" b="0" i="0" u="none" strike="noStrike" cap="none" normalizeH="0" baseline="0" dirty="0">
                <a:ln>
                  <a:noFill/>
                </a:ln>
                <a:solidFill>
                  <a:srgbClr val="002060"/>
                </a:solidFill>
                <a:effectLst/>
                <a:latin typeface="Times New Roman" panose="02020603050405020304" pitchFamily="18" charset="0"/>
                <a:ea typeface="ADLaM Display" panose="02010000000000000000" pitchFamily="2" charset="0"/>
                <a:cs typeface="Times New Roman" panose="02020603050405020304" pitchFamily="18" charset="0"/>
              </a:rPr>
              <a:t>Based on calculations from 2008 to 2013, the weekday load factor is 71.18%.</a:t>
            </a:r>
          </a:p>
          <a:p>
            <a:pPr marL="285750" indent="-285750">
              <a:buFont typeface="Arial" panose="020B0604020202020204" pitchFamily="34" charset="0"/>
              <a:buChar char="•"/>
            </a:pPr>
            <a:r>
              <a:rPr kumimoji="0" lang="en-US" altLang="en-US" sz="1600" b="0" i="0" u="none" strike="noStrike" cap="none" normalizeH="0" baseline="0" dirty="0">
                <a:ln>
                  <a:noFill/>
                </a:ln>
                <a:solidFill>
                  <a:srgbClr val="002060"/>
                </a:solidFill>
                <a:effectLst/>
                <a:latin typeface="Times New Roman" panose="02020603050405020304" pitchFamily="18" charset="0"/>
                <a:ea typeface="ADLaM Display" panose="02010000000000000000" pitchFamily="2" charset="0"/>
                <a:cs typeface="Times New Roman" panose="02020603050405020304" pitchFamily="18" charset="0"/>
              </a:rPr>
              <a:t>Based on calculations from 2008 to 2013, the Weekends load factor is 28.82%.</a:t>
            </a:r>
            <a:br>
              <a:rPr kumimoji="0" lang="en-US" altLang="en-US" sz="1600" b="0" i="0" u="none" strike="noStrike" cap="none" normalizeH="0" baseline="0" dirty="0">
                <a:ln>
                  <a:noFill/>
                </a:ln>
                <a:solidFill>
                  <a:schemeClr val="tx1"/>
                </a:solidFill>
                <a:effectLst/>
                <a:latin typeface="ADLaM Display" panose="02010000000000000000" pitchFamily="2" charset="0"/>
                <a:ea typeface="ADLaM Display" panose="02010000000000000000" pitchFamily="2" charset="0"/>
                <a:cs typeface="ADLaM Display" panose="02010000000000000000" pitchFamily="2" charset="0"/>
              </a:rPr>
            </a:br>
            <a:endParaRPr lang="en-US" sz="16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2112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223286" y="606055"/>
            <a:ext cx="557146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Number of Flights based on Distance Group</a:t>
            </a:r>
            <a:endPar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endParaRPr>
          </a:p>
        </p:txBody>
      </p:sp>
      <p:pic>
        <p:nvPicPr>
          <p:cNvPr id="5" name="Content Placeholder 5">
            <a:extLst>
              <a:ext uri="{FF2B5EF4-FFF2-40B4-BE49-F238E27FC236}">
                <a16:creationId xmlns:a16="http://schemas.microsoft.com/office/drawing/2014/main" id="{078074A0-D211-4C99-AD18-3A48F041B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86" y="1552354"/>
            <a:ext cx="4061636" cy="3314502"/>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07793C56-A53D-45DC-84A7-122F20E3F3CB}"/>
              </a:ext>
            </a:extLst>
          </p:cNvPr>
          <p:cNvSpPr txBox="1"/>
          <p:nvPr/>
        </p:nvSpPr>
        <p:spPr>
          <a:xfrm>
            <a:off x="4433777" y="1552354"/>
            <a:ext cx="4710223" cy="3834896"/>
          </a:xfrm>
          <a:prstGeom prst="rect">
            <a:avLst/>
          </a:prstGeom>
          <a:noFill/>
        </p:spPr>
        <p:txBody>
          <a:bodyPr wrap="square" rtlCol="0">
            <a:spAutoFit/>
          </a:bodyPr>
          <a:lstStyle/>
          <a:p>
            <a:pPr marL="342900" indent="-342900">
              <a:buFont typeface="+mj-lt"/>
              <a:buAutoNum type="arabicPeriod"/>
            </a:pPr>
            <a:r>
              <a:rPr lang="en-US" sz="1600" b="1" dirty="0">
                <a:solidFill>
                  <a:srgbClr val="000000"/>
                </a:solidFill>
                <a:latin typeface="Times New Roman" panose="02020603050405020304" pitchFamily="18" charset="0"/>
                <a:cs typeface="Times New Roman" panose="02020603050405020304" pitchFamily="18" charset="0"/>
              </a:rPr>
              <a:t>Majority of Flights Are Short-Haul:</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The highest number of flights (</a:t>
            </a:r>
            <a:r>
              <a:rPr lang="en-US" sz="1600" b="1" dirty="0">
                <a:solidFill>
                  <a:srgbClr val="002060"/>
                </a:solidFill>
                <a:latin typeface="Times New Roman" panose="02020603050405020304" pitchFamily="18" charset="0"/>
                <a:cs typeface="Times New Roman" panose="02020603050405020304" pitchFamily="18" charset="0"/>
              </a:rPr>
              <a:t>58,047 flights</a:t>
            </a:r>
            <a:r>
              <a:rPr lang="en-US" sz="1600" dirty="0">
                <a:solidFill>
                  <a:srgbClr val="002060"/>
                </a:solidFill>
                <a:latin typeface="Times New Roman" panose="02020603050405020304" pitchFamily="18" charset="0"/>
                <a:cs typeface="Times New Roman" panose="02020603050405020304" pitchFamily="18" charset="0"/>
              </a:rPr>
              <a:t>) are in the </a:t>
            </a:r>
            <a:r>
              <a:rPr lang="en-US" sz="1600" b="1" dirty="0">
                <a:solidFill>
                  <a:srgbClr val="002060"/>
                </a:solidFill>
                <a:latin typeface="Times New Roman" panose="02020603050405020304" pitchFamily="18" charset="0"/>
                <a:cs typeface="Times New Roman" panose="02020603050405020304" pitchFamily="18" charset="0"/>
              </a:rPr>
              <a:t>“Less Than 500 Miles”</a:t>
            </a:r>
            <a:r>
              <a:rPr lang="en-US" sz="1600" dirty="0">
                <a:solidFill>
                  <a:srgbClr val="002060"/>
                </a:solidFill>
                <a:latin typeface="Times New Roman" panose="02020603050405020304" pitchFamily="18" charset="0"/>
                <a:cs typeface="Times New Roman" panose="02020603050405020304" pitchFamily="18" charset="0"/>
              </a:rPr>
              <a:t> category.</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This suggests a strong preference or operational need for short-haul domestic travel.</a:t>
            </a:r>
          </a:p>
          <a:p>
            <a:pPr>
              <a:lnSpc>
                <a:spcPct val="120000"/>
              </a:lnSpc>
            </a:pPr>
            <a:r>
              <a:rPr lang="en-US" sz="1600" b="1" dirty="0">
                <a:solidFill>
                  <a:srgbClr val="000000"/>
                </a:solidFill>
                <a:latin typeface="Times New Roman" panose="02020603050405020304" pitchFamily="18" charset="0"/>
                <a:cs typeface="Times New Roman" panose="02020603050405020304" pitchFamily="18" charset="0"/>
              </a:rPr>
              <a:t>2. Moderate Traffic in Medium-Haul Range:</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The </a:t>
            </a:r>
            <a:r>
              <a:rPr lang="en-US" sz="1600" b="1" dirty="0">
                <a:solidFill>
                  <a:srgbClr val="002060"/>
                </a:solidFill>
                <a:latin typeface="Times New Roman" panose="02020603050405020304" pitchFamily="18" charset="0"/>
                <a:cs typeface="Times New Roman" panose="02020603050405020304" pitchFamily="18" charset="0"/>
              </a:rPr>
              <a:t>500–999 miles</a:t>
            </a:r>
            <a:r>
              <a:rPr lang="en-US" sz="1600" dirty="0">
                <a:solidFill>
                  <a:srgbClr val="002060"/>
                </a:solidFill>
                <a:latin typeface="Times New Roman" panose="02020603050405020304" pitchFamily="18" charset="0"/>
                <a:cs typeface="Times New Roman" panose="02020603050405020304" pitchFamily="18" charset="0"/>
              </a:rPr>
              <a:t> group has the second-highest number of flights: </a:t>
            </a:r>
            <a:r>
              <a:rPr lang="en-US" sz="1600" b="1" dirty="0">
                <a:solidFill>
                  <a:srgbClr val="002060"/>
                </a:solidFill>
                <a:latin typeface="Times New Roman" panose="02020603050405020304" pitchFamily="18" charset="0"/>
                <a:cs typeface="Times New Roman" panose="02020603050405020304" pitchFamily="18" charset="0"/>
              </a:rPr>
              <a:t>28,131 flights</a:t>
            </a:r>
            <a:r>
              <a:rPr lang="en-US" sz="1600" dirty="0">
                <a:solidFill>
                  <a:srgbClr val="002060"/>
                </a:solidFill>
                <a:latin typeface="Times New Roman" panose="02020603050405020304" pitchFamily="18" charset="0"/>
                <a:cs typeface="Times New Roman" panose="02020603050405020304" pitchFamily="18" charset="0"/>
              </a:rPr>
              <a:t>.</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Indicates medium-distance routes are also commonly traveled.</a:t>
            </a:r>
          </a:p>
          <a:p>
            <a:pPr marL="285750" indent="-285750">
              <a:lnSpc>
                <a:spcPct val="120000"/>
              </a:lnSpc>
              <a:buFont typeface="Arial" panose="020B0604020202020204" pitchFamily="34" charset="0"/>
              <a:buChar char="•"/>
            </a:pPr>
            <a:endParaRPr lang="en-US" sz="1600" b="1" dirty="0">
              <a:solidFill>
                <a:srgbClr val="002060"/>
              </a:solidFill>
              <a:latin typeface="Times New Roman" panose="02020603050405020304" pitchFamily="18" charset="0"/>
              <a:cs typeface="Times New Roman" panose="02020603050405020304" pitchFamily="18" charset="0"/>
            </a:endParaRPr>
          </a:p>
          <a:p>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1411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A952F332-9265-4F33-A1CB-D24E869E4E31}"/>
              </a:ext>
            </a:extLst>
          </p:cNvPr>
          <p:cNvSpPr txBox="1"/>
          <p:nvPr/>
        </p:nvSpPr>
        <p:spPr>
          <a:xfrm>
            <a:off x="223286" y="659218"/>
            <a:ext cx="5571460" cy="400110"/>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Number of Flights based on Distance Group</a:t>
            </a:r>
            <a:endParaRPr lang="en-US" sz="2000" b="1" i="0" u="none" strike="noStrike" kern="1200" cap="none" spc="0" baseline="0" dirty="0">
              <a:solidFill>
                <a:schemeClr val="bg1"/>
              </a:solidFill>
              <a:uFillTx/>
              <a:latin typeface="Times New Roman" panose="02020603050405020304" pitchFamily="18" charset="0"/>
              <a:cs typeface="Times New Roman" panose="02020603050405020304" pitchFamily="18" charset="0"/>
            </a:endParaRPr>
          </a:p>
        </p:txBody>
      </p:sp>
      <p:pic>
        <p:nvPicPr>
          <p:cNvPr id="5" name="Content Placeholder 5">
            <a:extLst>
              <a:ext uri="{FF2B5EF4-FFF2-40B4-BE49-F238E27FC236}">
                <a16:creationId xmlns:a16="http://schemas.microsoft.com/office/drawing/2014/main" id="{078074A0-D211-4C99-AD18-3A48F041B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86" y="1552354"/>
            <a:ext cx="4061636" cy="3314502"/>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07793C56-A53D-45DC-84A7-122F20E3F3CB}"/>
              </a:ext>
            </a:extLst>
          </p:cNvPr>
          <p:cNvSpPr txBox="1"/>
          <p:nvPr/>
        </p:nvSpPr>
        <p:spPr>
          <a:xfrm>
            <a:off x="4433777" y="1552354"/>
            <a:ext cx="4710223" cy="4035464"/>
          </a:xfrm>
          <a:prstGeom prst="rect">
            <a:avLst/>
          </a:prstGeom>
          <a:noFill/>
        </p:spPr>
        <p:txBody>
          <a:bodyPr wrap="square" rtlCol="0">
            <a:spAutoFit/>
          </a:bodyPr>
          <a:lstStyle/>
          <a:p>
            <a:pPr>
              <a:lnSpc>
                <a:spcPct val="120000"/>
              </a:lnSpc>
            </a:pPr>
            <a:r>
              <a:rPr lang="en-US" sz="1600" b="1" dirty="0">
                <a:solidFill>
                  <a:srgbClr val="000000"/>
                </a:solidFill>
                <a:latin typeface="Times New Roman" panose="02020603050405020304" pitchFamily="18" charset="0"/>
                <a:cs typeface="Times New Roman" panose="02020603050405020304" pitchFamily="18" charset="0"/>
              </a:rPr>
              <a:t>3.  Sharp Decline in Long-Haul Flights:</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Flights covering distances </a:t>
            </a:r>
            <a:r>
              <a:rPr lang="en-US" sz="1600" b="1" dirty="0">
                <a:solidFill>
                  <a:srgbClr val="002060"/>
                </a:solidFill>
                <a:latin typeface="Times New Roman" panose="02020603050405020304" pitchFamily="18" charset="0"/>
                <a:cs typeface="Times New Roman" panose="02020603050405020304" pitchFamily="18" charset="0"/>
              </a:rPr>
              <a:t>1000 miles and above</a:t>
            </a:r>
            <a:r>
              <a:rPr lang="en-US" sz="1600" dirty="0">
                <a:solidFill>
                  <a:srgbClr val="002060"/>
                </a:solidFill>
                <a:latin typeface="Times New Roman" panose="02020603050405020304" pitchFamily="18" charset="0"/>
                <a:cs typeface="Times New Roman" panose="02020603050405020304" pitchFamily="18" charset="0"/>
              </a:rPr>
              <a:t> drop significantly in number.</a:t>
            </a:r>
            <a:endParaRPr lang="en-US" sz="1600" dirty="0">
              <a:solidFill>
                <a:srgbClr val="000000"/>
              </a:solidFill>
              <a:latin typeface="Times New Roman" panose="02020603050405020304" pitchFamily="18" charset="0"/>
              <a:cs typeface="Times New Roman" panose="02020603050405020304" pitchFamily="18" charset="0"/>
            </a:endParaRPr>
          </a:p>
          <a:p>
            <a:pPr marL="628650" lvl="1" indent="-171450">
              <a:lnSpc>
                <a:spcPct val="120000"/>
              </a:lnSpc>
              <a:buFont typeface="Arial" panose="020B0604020202020204" pitchFamily="34" charset="0"/>
              <a:buChar char="•"/>
            </a:pPr>
            <a:r>
              <a:rPr lang="en-US" sz="1200" dirty="0">
                <a:solidFill>
                  <a:srgbClr val="002060"/>
                </a:solidFill>
                <a:latin typeface="Times New Roman" panose="02020603050405020304" pitchFamily="18" charset="0"/>
                <a:cs typeface="Times New Roman" panose="02020603050405020304" pitchFamily="18" charset="0"/>
              </a:rPr>
              <a:t>For example:</a:t>
            </a:r>
          </a:p>
          <a:p>
            <a:pPr lvl="2">
              <a:lnSpc>
                <a:spcPct val="120000"/>
              </a:lnSpc>
            </a:pPr>
            <a:r>
              <a:rPr lang="en-US" sz="1200" dirty="0">
                <a:solidFill>
                  <a:srgbClr val="002060"/>
                </a:solidFill>
                <a:latin typeface="Times New Roman" panose="02020603050405020304" pitchFamily="18" charset="0"/>
                <a:cs typeface="Times New Roman" panose="02020603050405020304" pitchFamily="18" charset="0"/>
              </a:rPr>
              <a:t>1000–1499 miles: </a:t>
            </a:r>
            <a:r>
              <a:rPr lang="en-US" sz="1200" b="1" dirty="0">
                <a:solidFill>
                  <a:srgbClr val="002060"/>
                </a:solidFill>
                <a:latin typeface="Times New Roman" panose="02020603050405020304" pitchFamily="18" charset="0"/>
                <a:cs typeface="Times New Roman" panose="02020603050405020304" pitchFamily="18" charset="0"/>
              </a:rPr>
              <a:t>11,333 flights</a:t>
            </a:r>
            <a:endParaRPr lang="en-US" sz="1200" dirty="0">
              <a:solidFill>
                <a:srgbClr val="002060"/>
              </a:solidFill>
              <a:latin typeface="Times New Roman" panose="02020603050405020304" pitchFamily="18" charset="0"/>
              <a:cs typeface="Times New Roman" panose="02020603050405020304" pitchFamily="18" charset="0"/>
            </a:endParaRPr>
          </a:p>
          <a:p>
            <a:pPr lvl="2">
              <a:lnSpc>
                <a:spcPct val="120000"/>
              </a:lnSpc>
            </a:pPr>
            <a:r>
              <a:rPr lang="en-US" sz="1200" dirty="0">
                <a:solidFill>
                  <a:srgbClr val="002060"/>
                </a:solidFill>
                <a:latin typeface="Times New Roman" panose="02020603050405020304" pitchFamily="18" charset="0"/>
                <a:cs typeface="Times New Roman" panose="02020603050405020304" pitchFamily="18" charset="0"/>
              </a:rPr>
              <a:t>1500–1999 miles: </a:t>
            </a:r>
            <a:r>
              <a:rPr lang="en-US" sz="1200" b="1" dirty="0">
                <a:solidFill>
                  <a:srgbClr val="002060"/>
                </a:solidFill>
                <a:latin typeface="Times New Roman" panose="02020603050405020304" pitchFamily="18" charset="0"/>
                <a:cs typeface="Times New Roman" panose="02020603050405020304" pitchFamily="18" charset="0"/>
              </a:rPr>
              <a:t>6,092 flights</a:t>
            </a:r>
            <a:endParaRPr lang="en-US" sz="1200" dirty="0">
              <a:solidFill>
                <a:srgbClr val="002060"/>
              </a:solidFill>
              <a:latin typeface="Times New Roman" panose="02020603050405020304" pitchFamily="18" charset="0"/>
              <a:cs typeface="Times New Roman" panose="02020603050405020304" pitchFamily="18" charset="0"/>
            </a:endParaRPr>
          </a:p>
          <a:p>
            <a:pPr lvl="2">
              <a:lnSpc>
                <a:spcPct val="120000"/>
              </a:lnSpc>
            </a:pPr>
            <a:r>
              <a:rPr lang="en-US" sz="1200" dirty="0">
                <a:solidFill>
                  <a:srgbClr val="002060"/>
                </a:solidFill>
                <a:latin typeface="Times New Roman" panose="02020603050405020304" pitchFamily="18" charset="0"/>
                <a:cs typeface="Times New Roman" panose="02020603050405020304" pitchFamily="18" charset="0"/>
              </a:rPr>
              <a:t>2000–2499 miles: </a:t>
            </a:r>
            <a:r>
              <a:rPr lang="en-US" sz="1200" b="1" dirty="0">
                <a:solidFill>
                  <a:srgbClr val="002060"/>
                </a:solidFill>
                <a:latin typeface="Times New Roman" panose="02020603050405020304" pitchFamily="18" charset="0"/>
                <a:cs typeface="Times New Roman" panose="02020603050405020304" pitchFamily="18" charset="0"/>
              </a:rPr>
              <a:t>2,330 flights</a:t>
            </a:r>
            <a:endParaRPr lang="en-US" sz="1200" dirty="0">
              <a:solidFill>
                <a:srgbClr val="002060"/>
              </a:solidFill>
              <a:latin typeface="Times New Roman" panose="02020603050405020304" pitchFamily="18" charset="0"/>
              <a:cs typeface="Times New Roman" panose="02020603050405020304" pitchFamily="18" charset="0"/>
            </a:endParaRPr>
          </a:p>
          <a:p>
            <a:pPr marL="628650" lvl="1" indent="-171450">
              <a:lnSpc>
                <a:spcPct val="120000"/>
              </a:lnSpc>
              <a:buFont typeface="Arial" panose="020B0604020202020204" pitchFamily="34" charset="0"/>
              <a:buChar char="•"/>
            </a:pPr>
            <a:r>
              <a:rPr lang="en-US" sz="1200" dirty="0">
                <a:solidFill>
                  <a:srgbClr val="002060"/>
                </a:solidFill>
                <a:latin typeface="Times New Roman" panose="02020603050405020304" pitchFamily="18" charset="0"/>
                <a:cs typeface="Times New Roman" panose="02020603050405020304" pitchFamily="18" charset="0"/>
              </a:rPr>
              <a:t>Very few flights are in distance groups </a:t>
            </a:r>
            <a:r>
              <a:rPr lang="en-US" sz="1200" b="1" dirty="0">
                <a:solidFill>
                  <a:srgbClr val="002060"/>
                </a:solidFill>
                <a:latin typeface="Times New Roman" panose="02020603050405020304" pitchFamily="18" charset="0"/>
                <a:cs typeface="Times New Roman" panose="02020603050405020304" pitchFamily="18" charset="0"/>
              </a:rPr>
              <a:t>6000+ miles</a:t>
            </a:r>
            <a:r>
              <a:rPr lang="en-US" sz="1200" dirty="0">
                <a:solidFill>
                  <a:srgbClr val="002060"/>
                </a:solidFill>
                <a:latin typeface="Times New Roman" panose="02020603050405020304" pitchFamily="18" charset="0"/>
                <a:cs typeface="Times New Roman" panose="02020603050405020304" pitchFamily="18" charset="0"/>
              </a:rPr>
              <a:t>, all below   </a:t>
            </a:r>
            <a:r>
              <a:rPr lang="en-US" sz="1200" b="1" dirty="0">
                <a:solidFill>
                  <a:srgbClr val="002060"/>
                </a:solidFill>
                <a:latin typeface="Times New Roman" panose="02020603050405020304" pitchFamily="18" charset="0"/>
                <a:cs typeface="Times New Roman" panose="02020603050405020304" pitchFamily="18" charset="0"/>
              </a:rPr>
              <a:t>200 flights</a:t>
            </a:r>
          </a:p>
          <a:p>
            <a:pPr>
              <a:lnSpc>
                <a:spcPct val="120000"/>
              </a:lnSpc>
            </a:pPr>
            <a:r>
              <a:rPr lang="en-US" sz="1600" b="1" dirty="0">
                <a:solidFill>
                  <a:srgbClr val="000000"/>
                </a:solidFill>
                <a:latin typeface="Times New Roman" panose="02020603050405020304" pitchFamily="18" charset="0"/>
                <a:cs typeface="Times New Roman" panose="02020603050405020304" pitchFamily="18" charset="0"/>
              </a:rPr>
              <a:t>4. Near-Zero Flights in Extreme Ranges:</a:t>
            </a:r>
          </a:p>
          <a:p>
            <a:pPr marL="742950" lvl="1" indent="-285750">
              <a:lnSpc>
                <a:spcPct val="120000"/>
              </a:lnSpc>
              <a:buFont typeface="Arial" panose="020B0604020202020204" pitchFamily="34" charset="0"/>
              <a:buChar char="•"/>
            </a:pPr>
            <a:r>
              <a:rPr lang="en-US" sz="1600" dirty="0">
                <a:solidFill>
                  <a:srgbClr val="002060"/>
                </a:solidFill>
                <a:latin typeface="Times New Roman" panose="02020603050405020304" pitchFamily="18" charset="0"/>
                <a:cs typeface="Times New Roman" panose="02020603050405020304" pitchFamily="18" charset="0"/>
              </a:rPr>
              <a:t>Almost </a:t>
            </a:r>
            <a:r>
              <a:rPr lang="en-US" sz="1600" b="1" dirty="0">
                <a:solidFill>
                  <a:srgbClr val="002060"/>
                </a:solidFill>
                <a:latin typeface="Times New Roman" panose="02020603050405020304" pitchFamily="18" charset="0"/>
                <a:cs typeface="Times New Roman" panose="02020603050405020304" pitchFamily="18" charset="0"/>
              </a:rPr>
              <a:t>no flights</a:t>
            </a:r>
            <a:r>
              <a:rPr lang="en-US" sz="1600" dirty="0">
                <a:solidFill>
                  <a:srgbClr val="002060"/>
                </a:solidFill>
                <a:latin typeface="Times New Roman" panose="02020603050405020304" pitchFamily="18" charset="0"/>
                <a:cs typeface="Times New Roman" panose="02020603050405020304" pitchFamily="18" charset="0"/>
              </a:rPr>
              <a:t> in:</a:t>
            </a:r>
          </a:p>
          <a:p>
            <a:pPr lvl="2">
              <a:lnSpc>
                <a:spcPct val="120000"/>
              </a:lnSpc>
            </a:pPr>
            <a:r>
              <a:rPr lang="en-US" sz="1200" b="1" dirty="0">
                <a:solidFill>
                  <a:srgbClr val="002060"/>
                </a:solidFill>
                <a:latin typeface="Times New Roman" panose="02020603050405020304" pitchFamily="18" charset="0"/>
                <a:cs typeface="Times New Roman" panose="02020603050405020304" pitchFamily="18" charset="0"/>
              </a:rPr>
              <a:t>10000–10499 miles</a:t>
            </a:r>
            <a:r>
              <a:rPr lang="en-US" sz="1200" dirty="0">
                <a:solidFill>
                  <a:srgbClr val="002060"/>
                </a:solidFill>
                <a:latin typeface="Times New Roman" panose="02020603050405020304" pitchFamily="18" charset="0"/>
                <a:cs typeface="Times New Roman" panose="02020603050405020304" pitchFamily="18" charset="0"/>
              </a:rPr>
              <a:t>: Only </a:t>
            </a:r>
            <a:r>
              <a:rPr lang="en-US" sz="1200" b="1" dirty="0">
                <a:solidFill>
                  <a:srgbClr val="002060"/>
                </a:solidFill>
                <a:latin typeface="Times New Roman" panose="02020603050405020304" pitchFamily="18" charset="0"/>
                <a:cs typeface="Times New Roman" panose="02020603050405020304" pitchFamily="18" charset="0"/>
              </a:rPr>
              <a:t>1 flight</a:t>
            </a:r>
            <a:endParaRPr lang="en-US" sz="1200" dirty="0">
              <a:solidFill>
                <a:srgbClr val="002060"/>
              </a:solidFill>
              <a:latin typeface="Times New Roman" panose="02020603050405020304" pitchFamily="18" charset="0"/>
              <a:cs typeface="Times New Roman" panose="02020603050405020304" pitchFamily="18" charset="0"/>
            </a:endParaRPr>
          </a:p>
          <a:p>
            <a:pPr lvl="2">
              <a:lnSpc>
                <a:spcPct val="120000"/>
              </a:lnSpc>
            </a:pPr>
            <a:r>
              <a:rPr lang="en-US" sz="1200" b="1" dirty="0">
                <a:solidFill>
                  <a:srgbClr val="002060"/>
                </a:solidFill>
                <a:latin typeface="Times New Roman" panose="02020603050405020304" pitchFamily="18" charset="0"/>
                <a:cs typeface="Times New Roman" panose="02020603050405020304" pitchFamily="18" charset="0"/>
              </a:rPr>
              <a:t>9500–9999 miles</a:t>
            </a:r>
            <a:r>
              <a:rPr lang="en-US" sz="1200" dirty="0">
                <a:solidFill>
                  <a:srgbClr val="002060"/>
                </a:solidFill>
                <a:latin typeface="Times New Roman" panose="02020603050405020304" pitchFamily="18" charset="0"/>
                <a:cs typeface="Times New Roman" panose="02020603050405020304" pitchFamily="18" charset="0"/>
              </a:rPr>
              <a:t>: </a:t>
            </a:r>
            <a:r>
              <a:rPr lang="en-US" sz="1200" b="1" dirty="0">
                <a:solidFill>
                  <a:srgbClr val="002060"/>
                </a:solidFill>
                <a:latin typeface="Times New Roman" panose="02020603050405020304" pitchFamily="18" charset="0"/>
                <a:cs typeface="Times New Roman" panose="02020603050405020304" pitchFamily="18" charset="0"/>
              </a:rPr>
              <a:t>4 flights</a:t>
            </a:r>
            <a:endParaRPr lang="en-US" sz="1200" dirty="0">
              <a:solidFill>
                <a:srgbClr val="002060"/>
              </a:solidFill>
              <a:latin typeface="Times New Roman" panose="02020603050405020304" pitchFamily="18" charset="0"/>
              <a:cs typeface="Times New Roman" panose="02020603050405020304" pitchFamily="18" charset="0"/>
            </a:endParaRPr>
          </a:p>
          <a:p>
            <a:pPr lvl="2">
              <a:lnSpc>
                <a:spcPct val="120000"/>
              </a:lnSpc>
            </a:pPr>
            <a:r>
              <a:rPr lang="en-US" sz="1200" b="1" dirty="0">
                <a:solidFill>
                  <a:srgbClr val="002060"/>
                </a:solidFill>
                <a:latin typeface="Times New Roman" panose="02020603050405020304" pitchFamily="18" charset="0"/>
                <a:cs typeface="Times New Roman" panose="02020603050405020304" pitchFamily="18" charset="0"/>
              </a:rPr>
              <a:t>8500–8999 miles</a:t>
            </a:r>
            <a:r>
              <a:rPr lang="en-US" sz="1200" dirty="0">
                <a:solidFill>
                  <a:srgbClr val="002060"/>
                </a:solidFill>
                <a:latin typeface="Times New Roman" panose="02020603050405020304" pitchFamily="18" charset="0"/>
                <a:cs typeface="Times New Roman" panose="02020603050405020304" pitchFamily="18" charset="0"/>
              </a:rPr>
              <a:t>: </a:t>
            </a:r>
            <a:r>
              <a:rPr lang="en-US" sz="1200" b="1" dirty="0">
                <a:solidFill>
                  <a:srgbClr val="002060"/>
                </a:solidFill>
                <a:latin typeface="Times New Roman" panose="02020603050405020304" pitchFamily="18" charset="0"/>
                <a:cs typeface="Times New Roman" panose="02020603050405020304" pitchFamily="18" charset="0"/>
              </a:rPr>
              <a:t>32 flights</a:t>
            </a:r>
            <a:endParaRPr lang="en-US" sz="1200" dirty="0">
              <a:solidFill>
                <a:srgbClr val="002060"/>
              </a:solidFill>
              <a:latin typeface="Times New Roman" panose="02020603050405020304" pitchFamily="18" charset="0"/>
              <a:cs typeface="Times New Roman" panose="02020603050405020304" pitchFamily="18" charset="0"/>
            </a:endParaRPr>
          </a:p>
          <a:p>
            <a:pPr>
              <a:lnSpc>
                <a:spcPct val="120000"/>
              </a:lnSpc>
            </a:pPr>
            <a:endParaRPr lang="en-US" sz="1100" b="1" dirty="0">
              <a:solidFill>
                <a:srgbClr val="002060"/>
              </a:solidFill>
              <a:latin typeface="Times New Roman" panose="02020603050405020304" pitchFamily="18" charset="0"/>
              <a:cs typeface="Times New Roman" panose="02020603050405020304" pitchFamily="18" charset="0"/>
            </a:endParaRPr>
          </a:p>
          <a:p>
            <a:pPr marL="742950" lvl="1" indent="-285750">
              <a:lnSpc>
                <a:spcPct val="120000"/>
              </a:lnSpc>
              <a:buFont typeface="Arial" panose="020B0604020202020204" pitchFamily="34" charset="0"/>
              <a:buChar char="•"/>
            </a:pPr>
            <a:endParaRPr lang="en-US" sz="16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9951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194D5-4E2A-4A11-9304-74D599536CFF}"/>
              </a:ext>
            </a:extLst>
          </p:cNvPr>
          <p:cNvSpPr txBox="1"/>
          <p:nvPr/>
        </p:nvSpPr>
        <p:spPr>
          <a:xfrm>
            <a:off x="2171875" y="2248582"/>
            <a:ext cx="6078983" cy="646331"/>
          </a:xfrm>
          <a:prstGeom prst="rect">
            <a:avLst/>
          </a:prstGeom>
          <a:noFill/>
        </p:spPr>
        <p:txBody>
          <a:bodyPr wrap="square" rtlCol="0">
            <a:spAutoFit/>
          </a:bodyPr>
          <a:lstStyle/>
          <a:p>
            <a:r>
              <a:rPr lang="en-US" sz="3600" b="1" dirty="0">
                <a:solidFill>
                  <a:srgbClr val="002060"/>
                </a:solidFill>
                <a:latin typeface="Times New Roman" panose="02020603050405020304" pitchFamily="18" charset="0"/>
                <a:cs typeface="Times New Roman" panose="02020603050405020304" pitchFamily="18" charset="0"/>
              </a:rPr>
              <a:t>Data Model Challenges</a:t>
            </a:r>
          </a:p>
        </p:txBody>
      </p:sp>
      <p:pic>
        <p:nvPicPr>
          <p:cNvPr id="8" name="Graphic 7" descr="Airplane with solid fill">
            <a:extLst>
              <a:ext uri="{FF2B5EF4-FFF2-40B4-BE49-F238E27FC236}">
                <a16:creationId xmlns:a16="http://schemas.microsoft.com/office/drawing/2014/main" id="{06484FE5-BF31-4330-8681-4177BC0B1B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579915">
            <a:off x="1641743" y="2162221"/>
            <a:ext cx="656640" cy="819052"/>
          </a:xfrm>
          <a:prstGeom prst="rect">
            <a:avLst/>
          </a:prstGeom>
        </p:spPr>
      </p:pic>
    </p:spTree>
    <p:extLst>
      <p:ext uri="{BB962C8B-B14F-4D97-AF65-F5344CB8AC3E}">
        <p14:creationId xmlns:p14="http://schemas.microsoft.com/office/powerpoint/2010/main" val="3158078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7D80EB-85BA-4F2B-8F46-8C219D51636B}"/>
              </a:ext>
            </a:extLst>
          </p:cNvPr>
          <p:cNvSpPr txBox="1"/>
          <p:nvPr/>
        </p:nvSpPr>
        <p:spPr>
          <a:xfrm>
            <a:off x="180753" y="372140"/>
            <a:ext cx="6741042" cy="44800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Data Cleaning &amp; Preparation: </a:t>
            </a:r>
            <a:r>
              <a:rPr lang="en-US" sz="1600" dirty="0">
                <a:solidFill>
                  <a:srgbClr val="002060"/>
                </a:solidFill>
                <a:latin typeface="Times New Roman" panose="02020603050405020304" pitchFamily="18" charset="0"/>
                <a:cs typeface="Times New Roman" panose="02020603050405020304" pitchFamily="18" charset="0"/>
              </a:rPr>
              <a:t>The raw data had missing values and date fields split into Year, Month, and Day - we used Power Query to clean and merge them into a usable format.</a:t>
            </a:r>
          </a:p>
          <a:p>
            <a:pPr marL="285750" indent="-285750">
              <a:lnSpc>
                <a:spcPct val="150000"/>
              </a:lnSpc>
              <a:buFont typeface="Arial" panose="020B0604020202020204" pitchFamily="34" charset="0"/>
              <a:buChar char="•"/>
            </a:pPr>
            <a:r>
              <a:rPr lang="en-US" sz="1600" b="1" dirty="0">
                <a:solidFill>
                  <a:srgbClr val="002060"/>
                </a:solidFill>
                <a:latin typeface="Times New Roman" panose="02020603050405020304" pitchFamily="18" charset="0"/>
                <a:cs typeface="Times New Roman" panose="02020603050405020304" pitchFamily="18" charset="0"/>
              </a:rPr>
              <a:t> </a:t>
            </a:r>
            <a:r>
              <a:rPr lang="en-US" sz="1600" b="1" dirty="0">
                <a:solidFill>
                  <a:srgbClr val="000000"/>
                </a:solidFill>
                <a:latin typeface="Times New Roman" panose="02020603050405020304" pitchFamily="18" charset="0"/>
                <a:cs typeface="Times New Roman" panose="02020603050405020304" pitchFamily="18" charset="0"/>
              </a:rPr>
              <a:t>Data Volume: </a:t>
            </a:r>
            <a:r>
              <a:rPr lang="en-US" sz="1600" dirty="0">
                <a:solidFill>
                  <a:srgbClr val="002060"/>
                </a:solidFill>
                <a:latin typeface="Times New Roman" panose="02020603050405020304" pitchFamily="18" charset="0"/>
                <a:cs typeface="Times New Roman" panose="02020603050405020304" pitchFamily="18" charset="0"/>
              </a:rPr>
              <a:t>Managing and processing large datasets efficiently.</a:t>
            </a:r>
          </a:p>
          <a:p>
            <a:pPr marL="285750" indent="-285750">
              <a:lnSpc>
                <a:spcPct val="150000"/>
              </a:lnSpc>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Data Quality: </a:t>
            </a:r>
            <a:r>
              <a:rPr lang="en-US" sz="1600" dirty="0">
                <a:solidFill>
                  <a:srgbClr val="002060"/>
                </a:solidFill>
                <a:latin typeface="Times New Roman" panose="02020603050405020304" pitchFamily="18" charset="0"/>
                <a:cs typeface="Times New Roman" panose="02020603050405020304" pitchFamily="18" charset="0"/>
              </a:rPr>
              <a:t>Ensuring Accuracy and reliability of the data.</a:t>
            </a:r>
          </a:p>
          <a:p>
            <a:pPr marL="285750" indent="-285750">
              <a:lnSpc>
                <a:spcPct val="150000"/>
              </a:lnSpc>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Complex Relationships: </a:t>
            </a:r>
            <a:r>
              <a:rPr lang="en-US" sz="1600" dirty="0">
                <a:solidFill>
                  <a:srgbClr val="002060"/>
                </a:solidFill>
                <a:latin typeface="Times New Roman" panose="02020603050405020304" pitchFamily="18" charset="0"/>
                <a:cs typeface="Times New Roman" panose="02020603050405020304" pitchFamily="18" charset="0"/>
              </a:rPr>
              <a:t>Establishing connections between different data points of the data.</a:t>
            </a:r>
          </a:p>
          <a:p>
            <a:pPr marL="285750" indent="-285750">
              <a:lnSpc>
                <a:spcPct val="150000"/>
              </a:lnSpc>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Data Merging: </a:t>
            </a:r>
            <a:r>
              <a:rPr lang="en-US" sz="1600" dirty="0">
                <a:solidFill>
                  <a:srgbClr val="002060"/>
                </a:solidFill>
                <a:latin typeface="Times New Roman" panose="02020603050405020304" pitchFamily="18" charset="0"/>
                <a:cs typeface="Times New Roman" panose="02020603050405020304" pitchFamily="18" charset="0"/>
              </a:rPr>
              <a:t>For Extracting different KPIs we needed to merge the datasets with the help of power query.</a:t>
            </a:r>
          </a:p>
          <a:p>
            <a:pPr marL="285750" indent="-285750">
              <a:lnSpc>
                <a:spcPct val="150000"/>
              </a:lnSpc>
              <a:buFont typeface="Arial" panose="020B0604020202020204" pitchFamily="34" charset="0"/>
              <a:buChar char="•"/>
            </a:pPr>
            <a:r>
              <a:rPr lang="en-US" sz="1600" b="1" dirty="0">
                <a:solidFill>
                  <a:srgbClr val="000000"/>
                </a:solidFill>
                <a:latin typeface="Times New Roman" panose="02020603050405020304" pitchFamily="18" charset="0"/>
                <a:cs typeface="Times New Roman" panose="02020603050405020304" pitchFamily="18" charset="0"/>
              </a:rPr>
              <a:t>Dashboard Performance: </a:t>
            </a:r>
            <a:r>
              <a:rPr lang="en-US" sz="1600" dirty="0">
                <a:solidFill>
                  <a:srgbClr val="002060"/>
                </a:solidFill>
                <a:latin typeface="Times New Roman" panose="02020603050405020304" pitchFamily="18" charset="0"/>
                <a:cs typeface="Times New Roman" panose="02020603050405020304" pitchFamily="18" charset="0"/>
              </a:rPr>
              <a:t>Too many visuals made the dashboard slow - we optimized by showing top airlines only and replaced tables with cards and KPIs.</a:t>
            </a:r>
            <a:endParaRPr lang="en-US" sz="1600"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2535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74389E-FB5A-2C9E-AC38-374F10DA5C76}"/>
              </a:ext>
            </a:extLst>
          </p:cNvPr>
          <p:cNvSpPr txBox="1"/>
          <p:nvPr/>
        </p:nvSpPr>
        <p:spPr>
          <a:xfrm>
            <a:off x="2428240" y="975360"/>
            <a:ext cx="4551680" cy="523220"/>
          </a:xfrm>
          <a:prstGeom prst="rect">
            <a:avLst/>
          </a:prstGeom>
          <a:noFill/>
        </p:spPr>
        <p:txBody>
          <a:bodyPr wrap="square" rtlCol="0">
            <a:spAutoFit/>
          </a:bodyPr>
          <a:lstStyle/>
          <a:p>
            <a:pPr algn="ctr"/>
            <a:r>
              <a:rPr lang="en-US" sz="2800" b="1" dirty="0"/>
              <a:t>DASHBOARDS</a:t>
            </a:r>
          </a:p>
        </p:txBody>
      </p:sp>
      <p:sp>
        <p:nvSpPr>
          <p:cNvPr id="3" name="TextBox 2">
            <a:extLst>
              <a:ext uri="{FF2B5EF4-FFF2-40B4-BE49-F238E27FC236}">
                <a16:creationId xmlns:a16="http://schemas.microsoft.com/office/drawing/2014/main" id="{E68426DF-CBCC-E75A-CB5D-829B559EAF4F}"/>
              </a:ext>
            </a:extLst>
          </p:cNvPr>
          <p:cNvSpPr txBox="1"/>
          <p:nvPr/>
        </p:nvSpPr>
        <p:spPr>
          <a:xfrm>
            <a:off x="1066800" y="2011680"/>
            <a:ext cx="6563360" cy="1477328"/>
          </a:xfrm>
          <a:prstGeom prst="rect">
            <a:avLst/>
          </a:prstGeom>
          <a:noFill/>
        </p:spPr>
        <p:txBody>
          <a:bodyPr wrap="square" rtlCol="0">
            <a:spAutoFit/>
          </a:bodyPr>
          <a:lstStyle/>
          <a:p>
            <a:pPr algn="just"/>
            <a:r>
              <a:rPr lang="en-US" b="1" i="1" dirty="0"/>
              <a:t>Data can be complex, but it doesn't have to be overwhelming. That’s where dashboards come in, it provides  a clear, concise view of the most critical data. These dashboards offer real-time insights, enabling us to monitor performance, identify trends, and support informed, strategic decision-making</a:t>
            </a:r>
            <a:r>
              <a:rPr lang="en-US" dirty="0"/>
              <a:t>. </a:t>
            </a:r>
          </a:p>
        </p:txBody>
      </p:sp>
    </p:spTree>
    <p:extLst>
      <p:ext uri="{BB962C8B-B14F-4D97-AF65-F5344CB8AC3E}">
        <p14:creationId xmlns:p14="http://schemas.microsoft.com/office/powerpoint/2010/main" val="2145318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DBE4AF-71D0-68AC-9BEC-A99E0BBE0789}"/>
              </a:ext>
            </a:extLst>
          </p:cNvPr>
          <p:cNvSpPr txBox="1"/>
          <p:nvPr/>
        </p:nvSpPr>
        <p:spPr>
          <a:xfrm>
            <a:off x="3420376" y="471934"/>
            <a:ext cx="4531360" cy="461665"/>
          </a:xfrm>
          <a:prstGeom prst="rect">
            <a:avLst/>
          </a:prstGeom>
          <a:noFill/>
        </p:spPr>
        <p:txBody>
          <a:bodyPr wrap="square" rtlCol="0">
            <a:spAutoFit/>
          </a:bodyPr>
          <a:lstStyle/>
          <a:p>
            <a:r>
              <a:rPr lang="en-US" sz="2400" b="1" dirty="0"/>
              <a:t>Excel Dashboard</a:t>
            </a:r>
          </a:p>
        </p:txBody>
      </p:sp>
      <p:pic>
        <p:nvPicPr>
          <p:cNvPr id="7" name="Picture 6">
            <a:extLst>
              <a:ext uri="{FF2B5EF4-FFF2-40B4-BE49-F238E27FC236}">
                <a16:creationId xmlns:a16="http://schemas.microsoft.com/office/drawing/2014/main" id="{F3A9B6CE-2039-4B4D-929E-E4A01760C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61" y="1010093"/>
            <a:ext cx="8973880" cy="4133407"/>
          </a:xfrm>
          <a:prstGeom prst="rect">
            <a:avLst/>
          </a:prstGeom>
        </p:spPr>
      </p:pic>
    </p:spTree>
    <p:extLst>
      <p:ext uri="{BB962C8B-B14F-4D97-AF65-F5344CB8AC3E}">
        <p14:creationId xmlns:p14="http://schemas.microsoft.com/office/powerpoint/2010/main" val="2637821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DBE4AF-71D0-68AC-9BEC-A99E0BBE0789}"/>
              </a:ext>
            </a:extLst>
          </p:cNvPr>
          <p:cNvSpPr txBox="1"/>
          <p:nvPr/>
        </p:nvSpPr>
        <p:spPr>
          <a:xfrm>
            <a:off x="3420376" y="471934"/>
            <a:ext cx="4531360" cy="461665"/>
          </a:xfrm>
          <a:prstGeom prst="rect">
            <a:avLst/>
          </a:prstGeom>
          <a:noFill/>
        </p:spPr>
        <p:txBody>
          <a:bodyPr wrap="square" rtlCol="0">
            <a:spAutoFit/>
          </a:bodyPr>
          <a:lstStyle/>
          <a:p>
            <a:r>
              <a:rPr lang="en-US" sz="2400" b="1" dirty="0"/>
              <a:t>Power BI Dashboard</a:t>
            </a:r>
          </a:p>
        </p:txBody>
      </p:sp>
      <p:pic>
        <p:nvPicPr>
          <p:cNvPr id="6" name="Picture 5">
            <a:extLst>
              <a:ext uri="{FF2B5EF4-FFF2-40B4-BE49-F238E27FC236}">
                <a16:creationId xmlns:a16="http://schemas.microsoft.com/office/drawing/2014/main" id="{F3A019E3-A89C-4DD9-8BCC-C2A10D72D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28" y="1031359"/>
            <a:ext cx="8995144" cy="4112142"/>
          </a:xfrm>
          <a:prstGeom prst="rect">
            <a:avLst/>
          </a:prstGeom>
        </p:spPr>
      </p:pic>
    </p:spTree>
    <p:extLst>
      <p:ext uri="{BB962C8B-B14F-4D97-AF65-F5344CB8AC3E}">
        <p14:creationId xmlns:p14="http://schemas.microsoft.com/office/powerpoint/2010/main" val="3629621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graph&#10;&#10;AI-generated content may be incorrect.">
            <a:extLst>
              <a:ext uri="{FF2B5EF4-FFF2-40B4-BE49-F238E27FC236}">
                <a16:creationId xmlns:a16="http://schemas.microsoft.com/office/drawing/2014/main" id="{5F65FF5B-D40D-5BBF-F87A-E15DC822E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326" y="925033"/>
            <a:ext cx="8910083" cy="4211652"/>
          </a:xfrm>
          <a:prstGeom prst="rect">
            <a:avLst/>
          </a:prstGeom>
        </p:spPr>
      </p:pic>
      <p:sp>
        <p:nvSpPr>
          <p:cNvPr id="7" name="TextBox 6">
            <a:extLst>
              <a:ext uri="{FF2B5EF4-FFF2-40B4-BE49-F238E27FC236}">
                <a16:creationId xmlns:a16="http://schemas.microsoft.com/office/drawing/2014/main" id="{979FAFEB-CFD9-D4CC-830E-D18890E0B0BE}"/>
              </a:ext>
            </a:extLst>
          </p:cNvPr>
          <p:cNvSpPr txBox="1"/>
          <p:nvPr/>
        </p:nvSpPr>
        <p:spPr>
          <a:xfrm>
            <a:off x="2585247" y="523802"/>
            <a:ext cx="3952240" cy="369332"/>
          </a:xfrm>
          <a:prstGeom prst="rect">
            <a:avLst/>
          </a:prstGeom>
          <a:noFill/>
        </p:spPr>
        <p:txBody>
          <a:bodyPr wrap="square" rtlCol="0">
            <a:spAutoFit/>
          </a:bodyPr>
          <a:lstStyle/>
          <a:p>
            <a:pPr algn="ctr"/>
            <a:r>
              <a:rPr lang="en-US" b="1" dirty="0"/>
              <a:t>TABLEAU DASHBOARD</a:t>
            </a:r>
          </a:p>
        </p:txBody>
      </p:sp>
    </p:spTree>
    <p:extLst>
      <p:ext uri="{BB962C8B-B14F-4D97-AF65-F5344CB8AC3E}">
        <p14:creationId xmlns:p14="http://schemas.microsoft.com/office/powerpoint/2010/main" val="14016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194D5-4E2A-4A11-9304-74D599536CFF}"/>
              </a:ext>
            </a:extLst>
          </p:cNvPr>
          <p:cNvSpPr txBox="1"/>
          <p:nvPr/>
        </p:nvSpPr>
        <p:spPr>
          <a:xfrm>
            <a:off x="3256408" y="2248582"/>
            <a:ext cx="5411973" cy="646331"/>
          </a:xfrm>
          <a:prstGeom prst="rect">
            <a:avLst/>
          </a:prstGeom>
          <a:noFill/>
        </p:spPr>
        <p:txBody>
          <a:bodyPr wrap="square" rtlCol="0">
            <a:spAutoFit/>
          </a:bodyPr>
          <a:lstStyle/>
          <a:p>
            <a:r>
              <a:rPr lang="en-US" sz="3600" b="1" dirty="0">
                <a:solidFill>
                  <a:srgbClr val="002060"/>
                </a:solidFill>
                <a:latin typeface="Times New Roman" panose="02020603050405020304" pitchFamily="18" charset="0"/>
                <a:cs typeface="Times New Roman" panose="02020603050405020304" pitchFamily="18" charset="0"/>
              </a:rPr>
              <a:t>Conclusion</a:t>
            </a:r>
          </a:p>
        </p:txBody>
      </p:sp>
      <p:pic>
        <p:nvPicPr>
          <p:cNvPr id="8" name="Graphic 7" descr="Airplane with solid fill">
            <a:extLst>
              <a:ext uri="{FF2B5EF4-FFF2-40B4-BE49-F238E27FC236}">
                <a16:creationId xmlns:a16="http://schemas.microsoft.com/office/drawing/2014/main" id="{06484FE5-BF31-4330-8681-4177BC0B1B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579915">
            <a:off x="2726276" y="2162221"/>
            <a:ext cx="656640" cy="819052"/>
          </a:xfrm>
          <a:prstGeom prst="rect">
            <a:avLst/>
          </a:prstGeom>
        </p:spPr>
      </p:pic>
    </p:spTree>
    <p:extLst>
      <p:ext uri="{BB962C8B-B14F-4D97-AF65-F5344CB8AC3E}">
        <p14:creationId xmlns:p14="http://schemas.microsoft.com/office/powerpoint/2010/main" val="1832991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7D80EB-85BA-4F2B-8F46-8C219D51636B}"/>
              </a:ext>
            </a:extLst>
          </p:cNvPr>
          <p:cNvSpPr txBox="1"/>
          <p:nvPr/>
        </p:nvSpPr>
        <p:spPr>
          <a:xfrm>
            <a:off x="244548" y="1016888"/>
            <a:ext cx="6741042" cy="2535566"/>
          </a:xfrm>
          <a:prstGeom prst="rect">
            <a:avLst/>
          </a:prstGeom>
          <a:noFill/>
        </p:spPr>
        <p:txBody>
          <a:bodyPr wrap="square" rtlCol="0">
            <a:spAutoFit/>
          </a:bodyPr>
          <a:lstStyle/>
          <a:p>
            <a:pPr>
              <a:lnSpc>
                <a:spcPct val="150000"/>
              </a:lnSpc>
            </a:pPr>
            <a:r>
              <a:rPr lang="en-US" dirty="0">
                <a:solidFill>
                  <a:srgbClr val="002060"/>
                </a:solidFill>
                <a:latin typeface="Times New Roman" panose="02020603050405020304" pitchFamily="18" charset="0"/>
                <a:cs typeface="Times New Roman" panose="02020603050405020304" pitchFamily="18" charset="0"/>
              </a:rPr>
              <a:t>High Cloud Airlines empowers the aviation industry with actionable insights, forecasting efficiency and strategic decision making. The presented KPIs offer a glimpse into the vast potential for improvement and growth within the industry. By harnessing the power of data, we can drive positive changes, ensuring a bright future for High Cloud Airlines and its partners in the aviation sector. </a:t>
            </a:r>
          </a:p>
        </p:txBody>
      </p:sp>
    </p:spTree>
    <p:extLst>
      <p:ext uri="{BB962C8B-B14F-4D97-AF65-F5344CB8AC3E}">
        <p14:creationId xmlns:p14="http://schemas.microsoft.com/office/powerpoint/2010/main" val="2124777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194D5-4E2A-4A11-9304-74D599536CFF}"/>
              </a:ext>
            </a:extLst>
          </p:cNvPr>
          <p:cNvSpPr txBox="1"/>
          <p:nvPr/>
        </p:nvSpPr>
        <p:spPr>
          <a:xfrm>
            <a:off x="3352095" y="2248582"/>
            <a:ext cx="5411973" cy="646331"/>
          </a:xfrm>
          <a:prstGeom prst="rect">
            <a:avLst/>
          </a:prstGeom>
          <a:noFill/>
        </p:spPr>
        <p:txBody>
          <a:bodyPr wrap="square" rtlCol="0">
            <a:spAutoFit/>
          </a:bodyPr>
          <a:lstStyle/>
          <a:p>
            <a:r>
              <a:rPr lang="en-US" sz="3600" b="1" dirty="0">
                <a:solidFill>
                  <a:srgbClr val="002060"/>
                </a:solidFill>
                <a:latin typeface="Times New Roman" panose="02020603050405020304" pitchFamily="18" charset="0"/>
                <a:cs typeface="Times New Roman" panose="02020603050405020304" pitchFamily="18" charset="0"/>
              </a:rPr>
              <a:t>Thank You</a:t>
            </a:r>
          </a:p>
        </p:txBody>
      </p:sp>
      <p:pic>
        <p:nvPicPr>
          <p:cNvPr id="8" name="Graphic 7" descr="Airplane with solid fill">
            <a:extLst>
              <a:ext uri="{FF2B5EF4-FFF2-40B4-BE49-F238E27FC236}">
                <a16:creationId xmlns:a16="http://schemas.microsoft.com/office/drawing/2014/main" id="{06484FE5-BF31-4330-8681-4177BC0B1B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2579915">
            <a:off x="2821963" y="2162221"/>
            <a:ext cx="656640" cy="819052"/>
          </a:xfrm>
          <a:prstGeom prst="rect">
            <a:avLst/>
          </a:prstGeom>
        </p:spPr>
      </p:pic>
    </p:spTree>
    <p:extLst>
      <p:ext uri="{BB962C8B-B14F-4D97-AF65-F5344CB8AC3E}">
        <p14:creationId xmlns:p14="http://schemas.microsoft.com/office/powerpoint/2010/main" val="3280816601"/>
      </p:ext>
    </p:extLst>
  </p:cSld>
  <p:clrMapOvr>
    <a:masterClrMapping/>
  </p:clrMapOvr>
</p:sld>
</file>

<file path=ppt/theme/theme1.xml><?xml version="1.0" encoding="utf-8"?>
<a:theme xmlns:a="http://schemas.openxmlformats.org/drawingml/2006/main" name="Office Theme">
  <a:themeElements>
    <a:clrScheme name="Custom 8">
      <a:dk1>
        <a:srgbClr val="4BACC6"/>
      </a:dk1>
      <a:lt1>
        <a:sysClr val="window" lastClr="FFFFFF"/>
      </a:lt1>
      <a:dk2>
        <a:srgbClr val="4BACC6"/>
      </a:dk2>
      <a:lt2>
        <a:srgbClr val="EEECE1"/>
      </a:lt2>
      <a:accent1>
        <a:srgbClr val="4BACC6"/>
      </a:accent1>
      <a:accent2>
        <a:srgbClr val="4BACC6"/>
      </a:accent2>
      <a:accent3>
        <a:srgbClr val="9BBB59"/>
      </a:accent3>
      <a:accent4>
        <a:srgbClr val="8064A2"/>
      </a:accent4>
      <a:accent5>
        <a:srgbClr val="4BACC6"/>
      </a:accent5>
      <a:accent6>
        <a:srgbClr val="F79646"/>
      </a:accent6>
      <a:hlink>
        <a:srgbClr val="0000FF"/>
      </a:hlink>
      <a:folHlink>
        <a:srgbClr val="4BACC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TotalTime>
  <Words>983</Words>
  <Application>Microsoft Office PowerPoint</Application>
  <PresentationFormat>On-screen Show (16:9)</PresentationFormat>
  <Paragraphs>98</Paragraphs>
  <Slides>22</Slides>
  <Notes>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22</vt:i4>
      </vt:variant>
    </vt:vector>
  </HeadingPairs>
  <TitlesOfParts>
    <vt:vector size="29" baseType="lpstr">
      <vt:lpstr>ADLaM Display</vt:lpstr>
      <vt:lpstr>Arial</vt:lpstr>
      <vt:lpstr>Calibri</vt:lpstr>
      <vt:lpstr>Times New Roman</vt:lpstr>
      <vt:lpstr>Wingdings</vt:lpstr>
      <vt:lpstr>Office Theme</vt:lpstr>
      <vt:lpstr>1_Office Theme</vt:lpstr>
      <vt:lpstr>HIGH CLOUD AIRLNES ANALYSIS</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CLOUD AIRLNES ANALYSIS</dc:title>
  <dc:creator>moumita roy</dc:creator>
  <cp:lastModifiedBy>Nisha pv</cp:lastModifiedBy>
  <cp:revision>7</cp:revision>
  <dcterms:created xsi:type="dcterms:W3CDTF">2017-08-01T15:40:51Z</dcterms:created>
  <dcterms:modified xsi:type="dcterms:W3CDTF">2025-12-02T06:11:13Z</dcterms:modified>
</cp:coreProperties>
</file>